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3" r:id="rId6"/>
    <p:sldId id="264" r:id="rId7"/>
    <p:sldId id="265" r:id="rId8"/>
    <p:sldId id="266" r:id="rId9"/>
    <p:sldId id="267" r:id="rId10"/>
    <p:sldId id="260" r:id="rId11"/>
    <p:sldId id="261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70" r:id="rId21"/>
    <p:sldId id="271" r:id="rId22"/>
    <p:sldId id="272" r:id="rId23"/>
    <p:sldId id="262" r:id="rId24"/>
    <p:sldId id="273" r:id="rId25"/>
    <p:sldId id="275" r:id="rId26"/>
    <p:sldId id="268" r:id="rId27"/>
    <p:sldId id="269" r:id="rId28"/>
    <p:sldId id="274" r:id="rId29"/>
    <p:sldId id="276" r:id="rId30"/>
    <p:sldId id="277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CF3ACC40-1163-4A6C-A82C-1E1D84D424A7}">
          <p14:sldIdLst>
            <p14:sldId id="256"/>
          </p14:sldIdLst>
        </p14:section>
        <p14:section name="Mouna" id="{D23AACBD-D1EF-42DE-9590-C0A8AC384857}">
          <p14:sldIdLst>
            <p14:sldId id="257"/>
            <p14:sldId id="258"/>
            <p14:sldId id="259"/>
            <p14:sldId id="263"/>
            <p14:sldId id="264"/>
            <p14:sldId id="265"/>
            <p14:sldId id="266"/>
            <p14:sldId id="267"/>
          </p14:sldIdLst>
        </p14:section>
        <p14:section name="Mia" id="{04D14486-FA9D-4BB9-B280-97EF10716047}">
          <p14:sldIdLst>
            <p14:sldId id="260"/>
            <p14:sldId id="26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Finja" id="{A6477248-0C57-4DD1-B721-E15CF765ABA0}">
          <p14:sldIdLst>
            <p14:sldId id="270"/>
            <p14:sldId id="271"/>
            <p14:sldId id="272"/>
            <p14:sldId id="262"/>
            <p14:sldId id="273"/>
            <p14:sldId id="275"/>
            <p14:sldId id="268"/>
            <p14:sldId id="269"/>
            <p14:sldId id="274"/>
          </p14:sldIdLst>
        </p14:section>
        <p14:section name="Mouna" id="{257D91FA-881F-45D4-ACD5-A4598813491F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97" autoAdjust="0"/>
    <p:restoredTop sz="94660"/>
  </p:normalViewPr>
  <p:slideViewPr>
    <p:cSldViewPr snapToGrid="0">
      <p:cViewPr varScale="1">
        <p:scale>
          <a:sx n="83" d="100"/>
          <a:sy n="83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AB276D-0B6C-4441-8D54-6BA680AC8953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D8EA45-FC5F-4659-A7BF-F45CEF0BCAC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07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3130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B112-C5C2-5578-8F45-B48EA3ED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3E9DA5-D5EF-5444-5D04-10D131A15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AEA5E53-B0CE-F467-2F13-743A022E1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C20424-5149-B7CF-4D51-E3C495517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4461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0717-79DC-BFFF-4246-47109E5F4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653A53-05A3-0B4B-42AD-846B8632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EDBE1B1-B432-6D86-B532-DEE563F64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930C59B-B97D-4C93-C32C-D18282BB6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99269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C62CB-5454-2EA8-BF11-9F1115363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3F1FB4-B135-2343-BF37-761858623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DAF605A-E14C-FCF8-8B5F-0E74F427E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5807158-3888-51F8-D6A6-5230EC36B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374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B345C-7D9D-227B-F5ED-BB5FAFC05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88FE76D-4366-7870-D359-325AF28BC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E716DA1-1361-35AF-845E-5B04AB2B8B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73A498D-7843-BDE7-1853-75D2F7D2B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D8EA45-FC5F-4659-A7BF-F45CEF0BCAC4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3014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6C931E-028C-9CEF-17A0-619DB6C89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2E753F-3917-E338-8E44-69E585880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2C064-DAB5-B00B-562A-B294977D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FCF990-BBE2-EEEA-1727-FF0E7DD7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D46F89-9260-E973-A71E-D53064C4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0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8642B-A63B-DC03-D075-5DCF112D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A9CA0-6387-7E0C-CC21-2BD875943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2C1461-05C1-2AA2-7F1F-40A257BF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107B0D-ABF4-8A71-9B71-9054660FE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F5304-5F38-85E8-A942-B58F1180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4330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18BA2-C2CA-4AA5-6B5A-FFF0871D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76EA03-617B-69E7-8034-12E1CE2C0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253A53-0996-C105-0E90-44E3D44D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2FF8F7-744B-8C82-D5AB-3A4A51E4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9610C7-AD29-A4B0-D40C-A50FC08A9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835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A1B96B-A2ED-15BC-7215-E4744593E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4404AF-5F13-DF33-F65A-E0535B6F0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668E33-0911-BE89-3F1C-06BAA03F00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567568-316D-BB0F-0581-BCDA41D5B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A6C46A-C7C4-7F02-2807-7DD432E4F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397DE3-30F8-E5C2-FD16-2021734C6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745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2412B-741E-AE2D-5CAC-8CA3A879E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9A6BF9-95DA-CDD7-F26B-61A12092E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D9EC7-9FA3-BB39-BFE6-AF43B440D8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28BA35-296B-909D-3DB2-7949FDAFFF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26CB602-6639-FAFE-80D9-76B9DF8544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6D82B-8CD7-C8FB-F249-5C9AE2E2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AB29ECE-1AF9-71F6-F5E1-7718159A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158E46-B1DB-3859-C1B7-4EBB86F3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50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4A6DD-7975-43CF-68EB-762E44C7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430A0D-E097-0575-AAE8-E379F13A1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C6340F-9A7E-6D7B-E9CC-B6648805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64E79C-2645-4FAB-901D-DB821CCF4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559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227A33-7BF8-BD86-AC8E-F8C9EBB3E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7FB31A-E2C1-CB3E-E108-B29C3DD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0FCF67-1FA5-7043-ECAC-EBA239C9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5891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7A30-1506-B95A-216A-C6825EE4A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BBD57A-091A-2501-1A0B-11C767A46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813613-97EF-FE77-F176-C85064ED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A9BF9A-07D5-2CE9-B9B2-7085FD5F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2CC486-5FEC-53B3-AE5B-79C744FF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AE5DF6-6447-B88F-3FE9-B65AAC5B9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734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D138E-BAD5-FE3A-EFDA-D9F14F5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96E7DE-D03A-7001-AE55-26E8ED8CE6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0A215-CCBE-028C-DC3F-E21DA95C9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8385EF-6F4E-5BA1-BC84-608B82C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52F85E-4EE4-FA5D-B980-E37B3491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51B801-4136-9F0C-8DF9-8F847A2B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900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AAB9EF-D1B4-B45F-B456-1E23A4D4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7B88632-A9A2-FC03-021A-96A619F29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D24172-FD23-51D4-02F8-B4C6EA35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E099FC-2C3A-58CA-22CE-B1C38178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133BBF-ED63-AB94-32B4-DEACD2020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137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269DCF-9330-9624-5CF7-45DBB913F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6CF7E28-1520-B056-D752-33FA33B7B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6D836-A86A-66C6-8BDF-4FE1C1393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FCC4AC-6C55-4E25-6ECF-40CD02FA7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104DCA-D442-C4C8-2FDB-6FD65DC4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724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F676298-48B4-5981-DF2A-6703C91B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137636-5918-70F4-A8E0-36175F1F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A2191C-3E8E-58D9-69F4-694EB24D1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87675-1CDB-48C0-9C87-57F4E3A33078}" type="datetimeFigureOut">
              <a:rPr lang="de-DE" smtClean="0"/>
              <a:t>17.06.2026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2949BB-C832-3670-406A-D95999B20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70E5E-7C43-F02D-91DD-BDA4F1BE0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7114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fik 4" descr="The image depicts a modern, well-lit, multi-level library with a clear layout, featuring an open staircase, contemporary furniture, and a focus on accessibility and organization.">
            <a:extLst>
              <a:ext uri="{FF2B5EF4-FFF2-40B4-BE49-F238E27FC236}">
                <a16:creationId xmlns:a16="http://schemas.microsoft.com/office/drawing/2014/main" id="{2AEDEBAD-6F16-A068-4105-0F834CD9962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2" r="1" b="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3CB01A6-54F3-9690-39B8-DF10AD4BC8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Hochschulbibliothek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032A1B-B9EA-1151-4689-34CDAE5DBE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Von: Mia, Mouna und Finja </a:t>
            </a:r>
          </a:p>
        </p:txBody>
      </p:sp>
    </p:spTree>
    <p:extLst>
      <p:ext uri="{BB962C8B-B14F-4D97-AF65-F5344CB8AC3E}">
        <p14:creationId xmlns:p14="http://schemas.microsoft.com/office/powerpoint/2010/main" val="4138183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CEF4DB-DC5F-8A54-3DBF-65A739119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Übersicht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3BC8C-3FE9-65CE-7296-6B09E4524A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  <a:p>
            <a:r>
              <a:rPr lang="de-DE" dirty="0"/>
              <a:t>Use-Case Diagramm</a:t>
            </a:r>
          </a:p>
          <a:p>
            <a:r>
              <a:rPr lang="de-DE" dirty="0"/>
              <a:t>ER-Modell</a:t>
            </a:r>
          </a:p>
          <a:p>
            <a:r>
              <a:rPr lang="de-DE" dirty="0"/>
              <a:t>Logischer Datenbankenentwurf</a:t>
            </a:r>
          </a:p>
          <a:p>
            <a:r>
              <a:rPr lang="de-DE" dirty="0"/>
              <a:t>SQL-Datenbank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30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F95E8-8BDA-528E-3BFF-F946C98C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Problemstellung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A9DB0B-F0F5-6AFD-87FC-5941932C8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690" y="169068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Die Fachhochschulbibliothek plant ein Online-Portal, über das Nutzer sich </a:t>
            </a:r>
            <a:r>
              <a:rPr lang="de-DE" dirty="0">
                <a:solidFill>
                  <a:srgbClr val="FF0000"/>
                </a:solidFill>
              </a:rPr>
              <a:t>registrieren</a:t>
            </a:r>
            <a:r>
              <a:rPr lang="de-DE" dirty="0"/>
              <a:t> und ein persönliches Profil anlegen können. Über dieses Portal können </a:t>
            </a:r>
            <a:r>
              <a:rPr lang="de-DE" dirty="0">
                <a:solidFill>
                  <a:srgbClr val="FF0000"/>
                </a:solidFill>
              </a:rPr>
              <a:t>Bücher und Zeitschriften ausgeliehen </a:t>
            </a:r>
            <a:r>
              <a:rPr lang="de-DE" dirty="0"/>
              <a:t>sowie deren aktuelle </a:t>
            </a:r>
            <a:r>
              <a:rPr lang="de-DE" dirty="0">
                <a:solidFill>
                  <a:srgbClr val="FF0000"/>
                </a:solidFill>
              </a:rPr>
              <a:t>Verfügbarkeit eingesehen </a:t>
            </a:r>
            <a:r>
              <a:rPr lang="de-DE" dirty="0"/>
              <a:t>werden. Außerdem besteht die Möglichkeit, </a:t>
            </a:r>
            <a:r>
              <a:rPr lang="de-DE" dirty="0">
                <a:solidFill>
                  <a:srgbClr val="FF0000"/>
                </a:solidFill>
              </a:rPr>
              <a:t>Reservierungen</a:t>
            </a:r>
            <a:r>
              <a:rPr lang="de-DE" dirty="0"/>
              <a:t> für nicht verfügbare Artikel vorzunehmen. </a:t>
            </a:r>
            <a:r>
              <a:rPr lang="de-DE" dirty="0">
                <a:solidFill>
                  <a:srgbClr val="FF0000"/>
                </a:solidFill>
              </a:rPr>
              <a:t>Digitale Medien </a:t>
            </a:r>
            <a:r>
              <a:rPr lang="de-DE" dirty="0"/>
              <a:t>können direkt über die Plattform </a:t>
            </a:r>
            <a:r>
              <a:rPr lang="de-DE" dirty="0">
                <a:solidFill>
                  <a:srgbClr val="FF0000"/>
                </a:solidFill>
              </a:rPr>
              <a:t>heruntergeladen</a:t>
            </a:r>
            <a:r>
              <a:rPr lang="de-DE" dirty="0"/>
              <a:t> werden.</a:t>
            </a:r>
          </a:p>
          <a:p>
            <a:pPr marL="0" indent="0">
              <a:buNone/>
            </a:pPr>
            <a:r>
              <a:rPr lang="de-DE" dirty="0"/>
              <a:t>Darüber hinaus soll eine </a:t>
            </a:r>
            <a:r>
              <a:rPr lang="de-DE" dirty="0">
                <a:solidFill>
                  <a:srgbClr val="FF0000"/>
                </a:solidFill>
              </a:rPr>
              <a:t>Heimlieferung</a:t>
            </a:r>
            <a:r>
              <a:rPr lang="de-DE" dirty="0"/>
              <a:t> angeboten werden. Bei persönlicher Abholung wird der genaue </a:t>
            </a:r>
            <a:r>
              <a:rPr lang="de-DE" dirty="0">
                <a:solidFill>
                  <a:srgbClr val="FF0000"/>
                </a:solidFill>
              </a:rPr>
              <a:t>Regalstandort</a:t>
            </a:r>
            <a:r>
              <a:rPr lang="de-DE" dirty="0"/>
              <a:t> des Artikels angezeigt. Das Portal übernimmt außerdem die Verwaltung von </a:t>
            </a:r>
            <a:r>
              <a:rPr lang="de-DE" dirty="0">
                <a:solidFill>
                  <a:srgbClr val="FF0000"/>
                </a:solidFill>
              </a:rPr>
              <a:t>Leihdauer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Mahnungsgebühren</a:t>
            </a:r>
            <a:r>
              <a:rPr lang="de-DE" dirty="0"/>
              <a:t>. </a:t>
            </a:r>
            <a:r>
              <a:rPr lang="de-DE" dirty="0">
                <a:solidFill>
                  <a:srgbClr val="FF0000"/>
                </a:solidFill>
              </a:rPr>
              <a:t>Bestellung</a:t>
            </a:r>
            <a:r>
              <a:rPr lang="de-DE" dirty="0"/>
              <a:t>, </a:t>
            </a:r>
            <a:r>
              <a:rPr lang="de-DE" dirty="0">
                <a:solidFill>
                  <a:srgbClr val="FF0000"/>
                </a:solidFill>
              </a:rPr>
              <a:t>Sendungsverfolgung</a:t>
            </a:r>
            <a:r>
              <a:rPr lang="de-DE" dirty="0"/>
              <a:t> und </a:t>
            </a:r>
            <a:r>
              <a:rPr lang="de-DE" dirty="0">
                <a:solidFill>
                  <a:srgbClr val="FF0000"/>
                </a:solidFill>
              </a:rPr>
              <a:t>Rechnungsstellung</a:t>
            </a:r>
            <a:r>
              <a:rPr lang="de-DE" dirty="0"/>
              <a:t> werden ebenfalls angeboten.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8148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FF92828-3B8D-3E77-E9D9-79326EF30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6BB573B1-6ED2-1559-D9E3-D7F1A28064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70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BA40D-19A5-D8DD-683E-0D36B974B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58FB199E-BDBF-554E-780B-A8F52216E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F86EB5EB-302C-A137-426D-E994D15B3C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2208973" y="-166914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95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74F6-9C26-5B13-39F0-B82140CF6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896FA19-8749-5624-E7A5-08CF39D4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32926976-291F-2867-C8BC-D9676B4C42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5155373" y="-6816660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36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F163C-17F3-F226-3B7A-05CD4C815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746C388-C250-B32A-191C-38364B4648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Inhaltsplatzhalter 14">
            <a:extLst>
              <a:ext uri="{FF2B5EF4-FFF2-40B4-BE49-F238E27FC236}">
                <a16:creationId xmlns:a16="http://schemas.microsoft.com/office/drawing/2014/main" id="{76889E32-8C45-A88E-D3E2-B946E76F91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7303488" y="-6657003"/>
            <a:ext cx="21745201" cy="1367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38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28364-D26D-4073-CFD6-5EBBE1FE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20CACEDA-2C35-5F1D-3657-6293468E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3BA65-497D-7F7C-2D10-295C92AB43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65168C1B-7BFC-4DCB-902F-E8048403DF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838200" y="95517"/>
            <a:ext cx="10601691" cy="6666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51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FF8A6-E39E-56CF-4BBA-FCF33ABD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5480E9F-4CDA-DDBF-3261-FAEF92481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79DBDF-78A5-74FC-DF1B-9BFE7F62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Inhaltsplatzhalter 14">
            <a:extLst>
              <a:ext uri="{FF2B5EF4-FFF2-40B4-BE49-F238E27FC236}">
                <a16:creationId xmlns:a16="http://schemas.microsoft.com/office/drawing/2014/main" id="{CA2DCC2B-CDA0-327D-682A-426EC80859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592"/>
          <a:stretch>
            <a:fillRect/>
          </a:stretch>
        </p:blipFill>
        <p:spPr>
          <a:xfrm>
            <a:off x="-8748683" y="-1582057"/>
            <a:ext cx="20751998" cy="1305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819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BB6FAE-8EFD-732A-B884-CC2BFCE3D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ER-Modell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A041451E-E2F1-81B5-D285-96AD5F8A39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639" r="52230" b="37649"/>
          <a:stretch>
            <a:fillRect/>
          </a:stretch>
        </p:blipFill>
        <p:spPr>
          <a:xfrm>
            <a:off x="3410667" y="241070"/>
            <a:ext cx="7687096" cy="6616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518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7F007A-CDD3-0B03-2018-5B50FCE46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152444"/>
          </a:xfrm>
        </p:spPr>
        <p:txBody>
          <a:bodyPr>
            <a:normAutofit/>
          </a:bodyPr>
          <a:lstStyle/>
          <a:p>
            <a:r>
              <a:rPr lang="de-DE" dirty="0"/>
              <a:t>Logischer Datenbankenentwurf</a:t>
            </a:r>
            <a:br>
              <a:rPr lang="de-DE" dirty="0"/>
            </a:br>
            <a:br>
              <a:rPr lang="de-DE" dirty="0"/>
            </a:br>
            <a:r>
              <a:rPr lang="de-DE" sz="2800" dirty="0"/>
              <a:t>Personen:</a:t>
            </a:r>
            <a:endParaRPr lang="de-DE" dirty="0"/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17D7A26E-3932-68CF-2CB2-7AE1B04037C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721134"/>
          <a:ext cx="10515600" cy="2834640"/>
        </p:xfrm>
        <a:graphic>
          <a:graphicData uri="http://schemas.openxmlformats.org/drawingml/2006/table">
            <a:tbl>
              <a:tblPr>
                <a:solidFill>
                  <a:schemeClr val="tx2">
                    <a:lumMod val="10000"/>
                    <a:lumOff val="90000"/>
                  </a:schemeClr>
                </a:solidFill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54753671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01941222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95035274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325745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059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dirty="0"/>
                        <a:t>PK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PersonenID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53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Vorname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VARCHAR(40)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27546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Nachname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VARCHAR(40)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02794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Email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VARCHAR(40)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826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Passwort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VARCHAR(40)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035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AdressID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5513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7456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9AFD1-335B-C087-E384-CEB05CD67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084AED-A4D9-B30F-A4C0-F71F1AC71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8449"/>
            <a:ext cx="10515600" cy="973777"/>
          </a:xfrm>
        </p:spPr>
        <p:txBody>
          <a:bodyPr>
            <a:normAutofit/>
          </a:bodyPr>
          <a:lstStyle/>
          <a:p>
            <a:r>
              <a:rPr lang="de-DE" sz="2800" dirty="0"/>
              <a:t>Mitglied:</a:t>
            </a:r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2E123765-E816-48FB-F061-3ADCED88172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302226"/>
          <a:ext cx="10515600" cy="1737360"/>
        </p:xfrm>
        <a:graphic>
          <a:graphicData uri="http://schemas.openxmlformats.org/drawingml/2006/table">
            <a:tbl>
              <a:tblPr>
                <a:solidFill>
                  <a:schemeClr val="tx2">
                    <a:lumMod val="10000"/>
                    <a:lumOff val="90000"/>
                  </a:schemeClr>
                </a:solidFill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87536796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9228629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888301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640527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9294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dirty="0"/>
                        <a:t>PK, 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PersonenID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30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Registrierungsdatum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701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none" dirty="0"/>
                        <a:t>Ausleiherlaubnis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TINYINT(1)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179836"/>
                  </a:ext>
                </a:extLst>
              </a:tr>
            </a:tbl>
          </a:graphicData>
        </a:graphic>
      </p:graphicFrame>
      <p:sp>
        <p:nvSpPr>
          <p:cNvPr id="7" name="Titel 1">
            <a:extLst>
              <a:ext uri="{FF2B5EF4-FFF2-40B4-BE49-F238E27FC236}">
                <a16:creationId xmlns:a16="http://schemas.microsoft.com/office/drawing/2014/main" id="{8E6900D1-BC8D-5593-81F7-E52ED199E8CF}"/>
              </a:ext>
            </a:extLst>
          </p:cNvPr>
          <p:cNvSpPr txBox="1">
            <a:spLocks/>
          </p:cNvSpPr>
          <p:nvPr/>
        </p:nvSpPr>
        <p:spPr>
          <a:xfrm>
            <a:off x="838200" y="2996192"/>
            <a:ext cx="10515600" cy="973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 dirty="0"/>
              <a:t>Mitarbeiter:</a:t>
            </a:r>
            <a:endParaRPr lang="de-DE" dirty="0"/>
          </a:p>
        </p:txBody>
      </p:sp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0F5FC4D6-B3FB-EB90-3499-1742E55A9A7B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200896"/>
          <a:ext cx="10515600" cy="1371600"/>
        </p:xfrm>
        <a:graphic>
          <a:graphicData uri="http://schemas.openxmlformats.org/drawingml/2006/table">
            <a:tbl>
              <a:tblPr>
                <a:solidFill>
                  <a:schemeClr val="accent1">
                    <a:lumMod val="20000"/>
                    <a:lumOff val="80000"/>
                  </a:schemeClr>
                </a:solidFill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32994367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61713884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37502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156980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7065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PK, 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PersonenID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1376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Position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VARCHAR(40)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>
                      <a:noFill/>
                    </a:lnL>
                    <a:lnT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8600555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9515080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D7C46-7120-B4D8-65AC-3DA790E7A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351BA8-D03E-8B7F-EF50-91A58A98D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25976"/>
            <a:ext cx="10515600" cy="973777"/>
          </a:xfrm>
        </p:spPr>
        <p:txBody>
          <a:bodyPr>
            <a:normAutofit/>
          </a:bodyPr>
          <a:lstStyle/>
          <a:p>
            <a:r>
              <a:rPr lang="de-DE" sz="2800" dirty="0"/>
              <a:t>Adresse:</a:t>
            </a:r>
            <a:endParaRPr lang="de-DE" dirty="0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8C583E6F-C897-4335-DD9B-B178C224362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299753"/>
          <a:ext cx="10515600" cy="2468880"/>
        </p:xfrm>
        <a:graphic>
          <a:graphicData uri="http://schemas.openxmlformats.org/drawingml/2006/table">
            <a:tbl>
              <a:tblPr>
                <a:solidFill>
                  <a:schemeClr val="accent1">
                    <a:lumMod val="20000"/>
                    <a:lumOff val="80000"/>
                  </a:schemeClr>
                </a:solidFill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54371381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279427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965626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628898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057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AdressID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420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PersonenID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758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Strasse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VARCHAR(40)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540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Hausnummer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VARCHAR(10)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844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PLZ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>
                      <a:noFill/>
                    </a:lnL>
                    <a:lnT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400988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649282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F2D4-EA26-FDD2-00B5-D5E3DBB00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AC0679-8EA8-41EA-6E52-71919FD88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5461"/>
            <a:ext cx="10515600" cy="973777"/>
          </a:xfrm>
        </p:spPr>
        <p:txBody>
          <a:bodyPr>
            <a:normAutofit/>
          </a:bodyPr>
          <a:lstStyle/>
          <a:p>
            <a:r>
              <a:rPr lang="de-DE" sz="2800" dirty="0"/>
              <a:t>Medium:</a:t>
            </a:r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2088EAC6-C995-7373-41E8-59C6242B07E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949238"/>
          <a:ext cx="10515600" cy="2834640"/>
        </p:xfrm>
        <a:graphic>
          <a:graphicData uri="http://schemas.openxmlformats.org/drawingml/2006/table">
            <a:tbl>
              <a:tblPr>
                <a:solidFill>
                  <a:schemeClr val="accent1">
                    <a:lumMod val="20000"/>
                    <a:lumOff val="80000"/>
                  </a:schemeClr>
                </a:solidFill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1347195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9499639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1204101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978457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173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MediumID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345226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Titel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VARCHAR(40)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0543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Typ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VARCHAR(40)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90579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Erscheinungsjahr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0827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Beschreibung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VARCHAR(80)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8446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Verfuegbarkeit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TINYINT(1)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>
                      <a:noFill/>
                    </a:lnL>
                    <a:lnT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42021834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2262468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1D709-7423-B0B9-8FF4-2E21A06E0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4D6177-3136-DF25-A110-BAF2DCAF1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8449"/>
            <a:ext cx="10515600" cy="973777"/>
          </a:xfrm>
        </p:spPr>
        <p:txBody>
          <a:bodyPr>
            <a:normAutofit/>
          </a:bodyPr>
          <a:lstStyle/>
          <a:p>
            <a:r>
              <a:rPr lang="de-DE" sz="2800" dirty="0" err="1"/>
              <a:t>Digitales_Medium</a:t>
            </a:r>
            <a:r>
              <a:rPr lang="de-DE" sz="2800" dirty="0"/>
              <a:t>:</a:t>
            </a:r>
            <a:endParaRPr lang="de-DE" dirty="0"/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DDA8DE75-5A91-545E-E2A0-94389B36014B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09567"/>
          <a:ext cx="10515600" cy="13716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27584571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97633423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6109129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119597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2892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PK, 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MediumID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581754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Downloadlink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VARCHAR(120)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>
                      <a:noFill/>
                    </a:lnL>
                    <a:lnT>
                      <a:noFill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5580767"/>
                  </a:ext>
                </a:extLst>
              </a:tr>
            </a:tbl>
          </a:graphicData>
        </a:graphic>
      </p:graphicFrame>
      <p:sp>
        <p:nvSpPr>
          <p:cNvPr id="5" name="Titel 1">
            <a:extLst>
              <a:ext uri="{FF2B5EF4-FFF2-40B4-BE49-F238E27FC236}">
                <a16:creationId xmlns:a16="http://schemas.microsoft.com/office/drawing/2014/main" id="{E7C220DB-208E-158E-9ACE-0FE9C914ACE6}"/>
              </a:ext>
            </a:extLst>
          </p:cNvPr>
          <p:cNvSpPr txBox="1">
            <a:spLocks/>
          </p:cNvSpPr>
          <p:nvPr/>
        </p:nvSpPr>
        <p:spPr>
          <a:xfrm>
            <a:off x="838200" y="2942111"/>
            <a:ext cx="10515600" cy="973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 dirty="0" err="1"/>
              <a:t>Analoges_Medium</a:t>
            </a:r>
            <a:r>
              <a:rPr lang="de-DE" sz="2800" dirty="0"/>
              <a:t>:</a:t>
            </a:r>
            <a:endParaRPr lang="de-DE" dirty="0"/>
          </a:p>
        </p:txBody>
      </p:sp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6AF6969A-63E0-1E00-6CE1-F098803142EC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151152"/>
          <a:ext cx="10515600" cy="137160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2689886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798870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4140961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637163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4881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PK, 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MediumID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1761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PK, FK</a:t>
                      </a:r>
                      <a:endParaRPr lang="de-D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RegalfachID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72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6281793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5127D-5E4C-90D2-2F9D-64272301B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7A93FD-F8C7-F0E6-5FDC-6BFBE3A42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6116"/>
            <a:ext cx="10515600" cy="973777"/>
          </a:xfrm>
        </p:spPr>
        <p:txBody>
          <a:bodyPr>
            <a:normAutofit/>
          </a:bodyPr>
          <a:lstStyle/>
          <a:p>
            <a:r>
              <a:rPr lang="de-DE" sz="2800" dirty="0"/>
              <a:t>Regalfach:</a:t>
            </a:r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681970A9-62C4-3F59-27A4-FFC2D5157492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101438"/>
          <a:ext cx="10515600" cy="17373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19648797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504301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0387250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5312939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06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RegalfachID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588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Regalnummer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023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Fachnummer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>
                      <a:noFill/>
                    </a:lnL>
                    <a:lnT>
                      <a:noFill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55733"/>
                  </a:ext>
                </a:extLst>
              </a:tr>
            </a:tbl>
          </a:graphicData>
        </a:graphic>
      </p:graphicFrame>
      <p:sp>
        <p:nvSpPr>
          <p:cNvPr id="4" name="Titel 1">
            <a:extLst>
              <a:ext uri="{FF2B5EF4-FFF2-40B4-BE49-F238E27FC236}">
                <a16:creationId xmlns:a16="http://schemas.microsoft.com/office/drawing/2014/main" id="{A89D392D-7B30-AF16-81A8-C64827FB07F9}"/>
              </a:ext>
            </a:extLst>
          </p:cNvPr>
          <p:cNvSpPr txBox="1">
            <a:spLocks/>
          </p:cNvSpPr>
          <p:nvPr/>
        </p:nvSpPr>
        <p:spPr>
          <a:xfrm>
            <a:off x="838200" y="2744744"/>
            <a:ext cx="10515600" cy="9737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800" dirty="0"/>
              <a:t>Reservierung:</a:t>
            </a:r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C1ACB8B2-42EE-0ED3-CBF5-3913DBF96C2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574120"/>
          <a:ext cx="10515600" cy="28346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39991486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7632743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1887908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911459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96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ReservierungsID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4423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Reservierungsstart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3598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Reservierungsende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(Ende-Start) &lt;= 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3723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Status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TINYINT(1)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9016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MitgliedID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9912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dirty="0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MediumID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2536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2343364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A8931-026D-E09B-EF98-0775F8BE9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169911-0FE2-E136-8B05-A5F9A395E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4262"/>
            <a:ext cx="10515600" cy="973777"/>
          </a:xfrm>
        </p:spPr>
        <p:txBody>
          <a:bodyPr>
            <a:normAutofit/>
          </a:bodyPr>
          <a:lstStyle/>
          <a:p>
            <a:r>
              <a:rPr lang="de-DE" sz="2800" dirty="0"/>
              <a:t>Ausleihe:</a:t>
            </a:r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2361796A-C676-FF41-5ECB-DB36FE4C0656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148840"/>
          <a:ext cx="10515600" cy="283464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38890550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2889469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557714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31889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32668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AusleiheID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553479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Ausleihedatum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685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Rueckgabedatum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(Ende-Start) &lt;= 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951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Status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TINYINT(1)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3752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MitgliedID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9004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MediumID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801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6823166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7559B-9BD0-9CF9-F080-C6F5881A4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4D3789-F3AA-E77B-D522-7039EC7B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6912"/>
            <a:ext cx="10515600" cy="973777"/>
          </a:xfrm>
        </p:spPr>
        <p:txBody>
          <a:bodyPr>
            <a:normAutofit/>
          </a:bodyPr>
          <a:lstStyle/>
          <a:p>
            <a:r>
              <a:rPr lang="de-DE" sz="2800" dirty="0"/>
              <a:t>Lieferung:</a:t>
            </a:r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2097CB7D-6D00-85FD-1C8D-3A802DE14A6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690689"/>
          <a:ext cx="10515600" cy="35661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221132516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8648693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0589470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275847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83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LieferID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6777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Bestelldatum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02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Lieferdatum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171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Lieferstatus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TINYINT(1)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719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AdressID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520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MitgliedID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193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MitarbeiterID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12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MediumID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313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758937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5CC08-D9E2-C221-D8D4-27F92C040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E6E124-FFA7-E7D6-F75B-40A194058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52237"/>
            <a:ext cx="10515600" cy="973777"/>
          </a:xfrm>
        </p:spPr>
        <p:txBody>
          <a:bodyPr>
            <a:normAutofit/>
          </a:bodyPr>
          <a:lstStyle/>
          <a:p>
            <a:r>
              <a:rPr lang="de-DE" sz="2800" dirty="0"/>
              <a:t>Mahnung: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341621D-2E4A-DDE7-F9C5-D4CDF7D2AE79}"/>
              </a:ext>
            </a:extLst>
          </p:cNvPr>
          <p:cNvSpPr txBox="1"/>
          <p:nvPr/>
        </p:nvSpPr>
        <p:spPr>
          <a:xfrm>
            <a:off x="6043613" y="43148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68A77561-C5E0-BCC1-FCCB-1422CD0BDB20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726014"/>
          <a:ext cx="10515600" cy="393192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5609995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6602043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0521281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70932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b="1" dirty="0"/>
                        <a:t>Schlüssel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Attribut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Datentyp</a:t>
                      </a:r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1" dirty="0" err="1"/>
                        <a:t>Constraint</a:t>
                      </a:r>
                      <a:endParaRPr lang="de-DE" b="1" dirty="0"/>
                    </a:p>
                    <a:p>
                      <a:endParaRPr lang="de-DE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5545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MahnungID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9639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Mahnungsdatum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3946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Mahnstufe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1441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Betrag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DOUBLE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279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Bezahlt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TINYINT(1)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47215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Bezahldatum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DATE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761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AusleiheID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567599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MitgliedID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40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FK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u="sng" dirty="0" err="1"/>
                        <a:t>MitarbeiterID</a:t>
                      </a:r>
                      <a:endParaRPr lang="de-DE" u="sng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/>
                        <a:t>INT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NOT NULL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7105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6471383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FE411-5EAD-4A87-F0FD-EA55E15B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1152F5-7660-F4F5-D578-694650152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A4CFCED-E2AC-C2E2-A3DC-4C79B81A54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>
                <a:solidFill>
                  <a:srgbClr val="0070C0"/>
                </a:solidFill>
              </a:rPr>
              <a:t>CREATE TABLE </a:t>
            </a:r>
            <a:r>
              <a:rPr lang="de-DE" dirty="0"/>
              <a:t>`</a:t>
            </a:r>
            <a:r>
              <a:rPr lang="de-DE" dirty="0" err="1"/>
              <a:t>personen</a:t>
            </a:r>
            <a:r>
              <a:rPr lang="de-DE" dirty="0"/>
              <a:t>` (</a:t>
            </a:r>
          </a:p>
          <a:p>
            <a:pPr marL="0" indent="0">
              <a:buNone/>
            </a:pPr>
            <a:r>
              <a:rPr lang="de-DE" dirty="0"/>
              <a:t>    `</a:t>
            </a:r>
            <a:r>
              <a:rPr lang="de-DE" dirty="0" err="1"/>
              <a:t>PersonenID</a:t>
            </a:r>
            <a:r>
              <a:rPr lang="de-DE" dirty="0"/>
              <a:t>`  INT          NOT NULL,</a:t>
            </a:r>
          </a:p>
          <a:p>
            <a:pPr marL="0" indent="0">
              <a:buNone/>
            </a:pPr>
            <a:r>
              <a:rPr lang="de-DE" dirty="0"/>
              <a:t>    `Vorname`     VARCHAR(40),</a:t>
            </a:r>
          </a:p>
          <a:p>
            <a:pPr marL="0" indent="0">
              <a:buNone/>
            </a:pPr>
            <a:r>
              <a:rPr lang="de-DE" dirty="0"/>
              <a:t>    `Nachname`    VARCHAR(40),</a:t>
            </a:r>
          </a:p>
          <a:p>
            <a:pPr marL="0" indent="0">
              <a:buNone/>
            </a:pPr>
            <a:r>
              <a:rPr lang="de-DE" dirty="0"/>
              <a:t>    `Email`       VARCHAR(40),</a:t>
            </a:r>
          </a:p>
          <a:p>
            <a:pPr marL="0" indent="0">
              <a:buNone/>
            </a:pPr>
            <a:r>
              <a:rPr lang="de-DE" dirty="0"/>
              <a:t>    `Passwort`    VARCHAR(40),</a:t>
            </a:r>
          </a:p>
          <a:p>
            <a:pPr marL="0" indent="0">
              <a:buNone/>
            </a:pPr>
            <a:r>
              <a:rPr lang="de-DE" dirty="0"/>
              <a:t>    `</a:t>
            </a:r>
            <a:r>
              <a:rPr lang="de-DE" dirty="0" err="1"/>
              <a:t>AdressID</a:t>
            </a:r>
            <a:r>
              <a:rPr lang="de-DE" dirty="0"/>
              <a:t>`    INT          NULL,</a:t>
            </a:r>
          </a:p>
          <a:p>
            <a:pPr marL="0" indent="0">
              <a:buNone/>
            </a:pPr>
            <a:r>
              <a:rPr lang="de-DE" dirty="0"/>
              <a:t>    </a:t>
            </a:r>
            <a:r>
              <a:rPr lang="de-DE" dirty="0">
                <a:solidFill>
                  <a:srgbClr val="0070C0"/>
                </a:solidFill>
              </a:rPr>
              <a:t>PRIMARY KEY </a:t>
            </a:r>
            <a:r>
              <a:rPr lang="de-DE" dirty="0"/>
              <a:t>(`</a:t>
            </a:r>
            <a:r>
              <a:rPr lang="de-DE" dirty="0" err="1"/>
              <a:t>PersonenID</a:t>
            </a:r>
            <a:r>
              <a:rPr lang="de-DE" dirty="0"/>
              <a:t>`),</a:t>
            </a:r>
          </a:p>
          <a:p>
            <a:pPr marL="0" indent="0">
              <a:buNone/>
            </a:pPr>
            <a:r>
              <a:rPr lang="de-DE" dirty="0"/>
              <a:t>    </a:t>
            </a:r>
            <a:r>
              <a:rPr lang="de-DE" dirty="0">
                <a:solidFill>
                  <a:srgbClr val="0070C0"/>
                </a:solidFill>
              </a:rPr>
              <a:t>FOREIGN KEY </a:t>
            </a:r>
            <a:r>
              <a:rPr lang="de-DE" dirty="0"/>
              <a:t>(`</a:t>
            </a:r>
            <a:r>
              <a:rPr lang="de-DE" dirty="0" err="1"/>
              <a:t>AdressID</a:t>
            </a:r>
            <a:r>
              <a:rPr lang="de-DE" dirty="0"/>
              <a:t>`) </a:t>
            </a:r>
            <a:r>
              <a:rPr lang="de-DE" dirty="0">
                <a:solidFill>
                  <a:srgbClr val="0070C0"/>
                </a:solidFill>
              </a:rPr>
              <a:t>REFERENCES</a:t>
            </a:r>
            <a:r>
              <a:rPr lang="de-DE" dirty="0"/>
              <a:t> `</a:t>
            </a:r>
            <a:r>
              <a:rPr lang="de-DE" dirty="0" err="1"/>
              <a:t>adresse</a:t>
            </a:r>
            <a:r>
              <a:rPr lang="de-DE" dirty="0"/>
              <a:t>` (`</a:t>
            </a:r>
            <a:r>
              <a:rPr lang="de-DE" dirty="0" err="1"/>
              <a:t>AdressID</a:t>
            </a:r>
            <a:r>
              <a:rPr lang="de-DE" dirty="0"/>
              <a:t>`)</a:t>
            </a:r>
          </a:p>
          <a:p>
            <a:pPr marL="0" indent="0">
              <a:buNone/>
            </a:pPr>
            <a:r>
              <a:rPr lang="de-DE" dirty="0"/>
              <a:t>        </a:t>
            </a:r>
            <a:r>
              <a:rPr lang="de-DE" dirty="0">
                <a:solidFill>
                  <a:srgbClr val="0070C0"/>
                </a:solidFill>
              </a:rPr>
              <a:t>ON DELETE CASCADE</a:t>
            </a:r>
            <a:r>
              <a:rPr lang="de-DE" dirty="0"/>
              <a:t>);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690391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0BB7D-A326-EFB2-AFC7-DC3731DF4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674AB-5C57-CB25-9251-CE20ABA7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DAF0C4-1E07-E280-577C-CE919B2CB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845" y="1825625"/>
            <a:ext cx="1153064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>
                <a:solidFill>
                  <a:srgbClr val="0070C0"/>
                </a:solidFill>
              </a:rPr>
              <a:t>CREATE TABLE </a:t>
            </a:r>
            <a:r>
              <a:rPr lang="de-DE" dirty="0"/>
              <a:t>`</a:t>
            </a:r>
            <a:r>
              <a:rPr lang="de-DE" dirty="0" err="1"/>
              <a:t>mitglied</a:t>
            </a:r>
            <a:r>
              <a:rPr lang="de-DE" dirty="0"/>
              <a:t>` (</a:t>
            </a:r>
          </a:p>
          <a:p>
            <a:pPr marL="0" indent="0">
              <a:buNone/>
            </a:pPr>
            <a:r>
              <a:rPr lang="de-DE" dirty="0"/>
              <a:t>    `</a:t>
            </a:r>
            <a:r>
              <a:rPr lang="de-DE" dirty="0" err="1"/>
              <a:t>PersonenID</a:t>
            </a:r>
            <a:r>
              <a:rPr lang="de-DE" dirty="0"/>
              <a:t>`          INT        NOT NULL,</a:t>
            </a:r>
          </a:p>
          <a:p>
            <a:pPr marL="0" indent="0">
              <a:buNone/>
            </a:pPr>
            <a:r>
              <a:rPr lang="de-DE" dirty="0"/>
              <a:t>    `Registrierungsdatum` DATE,</a:t>
            </a:r>
          </a:p>
          <a:p>
            <a:pPr marL="0" indent="0">
              <a:buNone/>
            </a:pPr>
            <a:r>
              <a:rPr lang="de-DE" dirty="0"/>
              <a:t>    `Ausleiherlaubnis`    TINYINT(1) NOT NULL,</a:t>
            </a:r>
          </a:p>
          <a:p>
            <a:pPr marL="0" indent="0">
              <a:buNone/>
            </a:pPr>
            <a:r>
              <a:rPr lang="de-DE" dirty="0"/>
              <a:t>    </a:t>
            </a:r>
            <a:r>
              <a:rPr lang="de-DE" dirty="0">
                <a:solidFill>
                  <a:srgbClr val="0070C0"/>
                </a:solidFill>
              </a:rPr>
              <a:t>PRIMARY KEY </a:t>
            </a:r>
            <a:r>
              <a:rPr lang="de-DE" dirty="0"/>
              <a:t>(`</a:t>
            </a:r>
            <a:r>
              <a:rPr lang="de-DE" dirty="0" err="1"/>
              <a:t>PersonenID</a:t>
            </a:r>
            <a:r>
              <a:rPr lang="de-DE" dirty="0"/>
              <a:t>`),</a:t>
            </a:r>
          </a:p>
          <a:p>
            <a:pPr marL="0" indent="0">
              <a:buNone/>
            </a:pPr>
            <a:r>
              <a:rPr lang="de-DE" dirty="0"/>
              <a:t>    </a:t>
            </a:r>
            <a:r>
              <a:rPr lang="de-DE" dirty="0">
                <a:solidFill>
                  <a:srgbClr val="0070C0"/>
                </a:solidFill>
              </a:rPr>
              <a:t>FOREIGN KEY </a:t>
            </a:r>
            <a:r>
              <a:rPr lang="de-DE" dirty="0"/>
              <a:t>(`</a:t>
            </a:r>
            <a:r>
              <a:rPr lang="de-DE" dirty="0" err="1"/>
              <a:t>PersonenID</a:t>
            </a:r>
            <a:r>
              <a:rPr lang="de-DE" dirty="0"/>
              <a:t>`) </a:t>
            </a:r>
            <a:r>
              <a:rPr lang="de-DE" dirty="0">
                <a:solidFill>
                  <a:srgbClr val="0070C0"/>
                </a:solidFill>
              </a:rPr>
              <a:t>REFERENCES</a:t>
            </a:r>
            <a:r>
              <a:rPr lang="de-DE" dirty="0"/>
              <a:t> `</a:t>
            </a:r>
            <a:r>
              <a:rPr lang="de-DE" dirty="0" err="1"/>
              <a:t>personen</a:t>
            </a:r>
            <a:r>
              <a:rPr lang="de-DE" dirty="0"/>
              <a:t>`(`</a:t>
            </a:r>
            <a:r>
              <a:rPr lang="de-DE" dirty="0" err="1"/>
              <a:t>PersonenID</a:t>
            </a:r>
            <a:r>
              <a:rPr lang="de-DE" dirty="0"/>
              <a:t>`)</a:t>
            </a:r>
          </a:p>
          <a:p>
            <a:pPr marL="0" indent="0">
              <a:buNone/>
            </a:pPr>
            <a:r>
              <a:rPr lang="de-DE" dirty="0"/>
              <a:t>        </a:t>
            </a:r>
            <a:r>
              <a:rPr lang="de-DE" dirty="0">
                <a:solidFill>
                  <a:srgbClr val="0070C0"/>
                </a:solidFill>
              </a:rPr>
              <a:t>ON DELETE CASCADE</a:t>
            </a:r>
            <a:r>
              <a:rPr lang="de-DE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960037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B7BE-4784-014D-7426-824F2CB29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BD4F6-FBD5-23AE-D237-08C0B7BE6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A576C3-AF0F-8D69-7BF2-8853DC986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793" y="1825625"/>
            <a:ext cx="1289936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>
                <a:solidFill>
                  <a:srgbClr val="0070C0"/>
                </a:solidFill>
              </a:rPr>
              <a:t>CREATE TABLE </a:t>
            </a:r>
            <a:r>
              <a:rPr lang="de-DE" dirty="0"/>
              <a:t>`</a:t>
            </a:r>
            <a:r>
              <a:rPr lang="de-DE" dirty="0" err="1"/>
              <a:t>mitarbeiter</a:t>
            </a:r>
            <a:r>
              <a:rPr lang="de-DE" dirty="0"/>
              <a:t>` (</a:t>
            </a:r>
          </a:p>
          <a:p>
            <a:pPr marL="0" indent="0">
              <a:buNone/>
            </a:pPr>
            <a:r>
              <a:rPr lang="de-DE" dirty="0"/>
              <a:t>    `</a:t>
            </a:r>
            <a:r>
              <a:rPr lang="de-DE" dirty="0" err="1"/>
              <a:t>PersonenID</a:t>
            </a:r>
            <a:r>
              <a:rPr lang="de-DE" dirty="0"/>
              <a:t>`  INT         NOT NULL,</a:t>
            </a:r>
          </a:p>
          <a:p>
            <a:pPr marL="0" indent="0">
              <a:buNone/>
            </a:pPr>
            <a:r>
              <a:rPr lang="de-DE" dirty="0"/>
              <a:t>    `Position`    VARCHAR(40),</a:t>
            </a:r>
          </a:p>
          <a:p>
            <a:pPr marL="0" indent="0">
              <a:buNone/>
            </a:pPr>
            <a:r>
              <a:rPr lang="de-DE" dirty="0"/>
              <a:t>    </a:t>
            </a:r>
            <a:r>
              <a:rPr lang="de-DE" dirty="0">
                <a:solidFill>
                  <a:srgbClr val="0070C0"/>
                </a:solidFill>
              </a:rPr>
              <a:t>PRIMARY KEY </a:t>
            </a:r>
            <a:r>
              <a:rPr lang="de-DE" dirty="0"/>
              <a:t>(`</a:t>
            </a:r>
            <a:r>
              <a:rPr lang="de-DE" dirty="0" err="1"/>
              <a:t>PersonenID</a:t>
            </a:r>
            <a:r>
              <a:rPr lang="de-DE" dirty="0"/>
              <a:t>`),</a:t>
            </a:r>
          </a:p>
          <a:p>
            <a:pPr marL="0" indent="0">
              <a:buNone/>
            </a:pPr>
            <a:r>
              <a:rPr lang="de-DE" dirty="0">
                <a:solidFill>
                  <a:srgbClr val="0070C0"/>
                </a:solidFill>
              </a:rPr>
              <a:t>    FOREIGN KEY </a:t>
            </a:r>
            <a:r>
              <a:rPr lang="de-DE" dirty="0"/>
              <a:t>(`</a:t>
            </a:r>
            <a:r>
              <a:rPr lang="de-DE" dirty="0" err="1"/>
              <a:t>PersonenID</a:t>
            </a:r>
            <a:r>
              <a:rPr lang="de-DE" dirty="0"/>
              <a:t>`) </a:t>
            </a:r>
            <a:r>
              <a:rPr lang="de-DE" dirty="0">
                <a:solidFill>
                  <a:srgbClr val="0070C0"/>
                </a:solidFill>
              </a:rPr>
              <a:t>REFERENCES</a:t>
            </a:r>
            <a:r>
              <a:rPr lang="de-DE" dirty="0"/>
              <a:t> `</a:t>
            </a:r>
            <a:r>
              <a:rPr lang="de-DE" dirty="0" err="1"/>
              <a:t>personen</a:t>
            </a:r>
            <a:r>
              <a:rPr lang="de-DE" dirty="0"/>
              <a:t>` (`</a:t>
            </a:r>
            <a:r>
              <a:rPr lang="de-DE" dirty="0" err="1"/>
              <a:t>PersonenID</a:t>
            </a:r>
            <a:r>
              <a:rPr lang="de-DE" dirty="0"/>
              <a:t>`)</a:t>
            </a:r>
          </a:p>
          <a:p>
            <a:pPr marL="0" indent="0">
              <a:buNone/>
            </a:pPr>
            <a:r>
              <a:rPr lang="de-DE" dirty="0"/>
              <a:t>        </a:t>
            </a:r>
            <a:r>
              <a:rPr lang="de-DE" dirty="0">
                <a:solidFill>
                  <a:srgbClr val="0070C0"/>
                </a:solidFill>
              </a:rPr>
              <a:t>ON DELETE CASCADE</a:t>
            </a:r>
            <a:r>
              <a:rPr lang="de-DE" dirty="0"/>
              <a:t>);</a:t>
            </a:r>
            <a:endParaRPr lang="de-DE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932263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6216E1-F291-DBE4-2223-D0512FDF5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Abfragen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97609C7-BEBB-CBD2-54D7-9EC9DD148091}"/>
              </a:ext>
            </a:extLst>
          </p:cNvPr>
          <p:cNvSpPr txBox="1"/>
          <p:nvPr/>
        </p:nvSpPr>
        <p:spPr>
          <a:xfrm>
            <a:off x="908648" y="1496054"/>
            <a:ext cx="76947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SELECT MONTH(</a:t>
            </a:r>
            <a:r>
              <a:rPr lang="de-DE" dirty="0" err="1"/>
              <a:t>Ausleihedatum</a:t>
            </a:r>
            <a:r>
              <a:rPr lang="de-DE" dirty="0"/>
              <a:t>) AS Monat, COUNT(*) AS Ausleihen,</a:t>
            </a:r>
          </a:p>
          <a:p>
            <a:r>
              <a:rPr lang="de-DE" dirty="0"/>
              <a:t>           SUM(CASE WHEN Status = 0 THEN 1 ELSE 0 END) AS </a:t>
            </a:r>
            <a:r>
              <a:rPr lang="de-DE" dirty="0" err="1"/>
              <a:t>NochOffen</a:t>
            </a:r>
            <a:r>
              <a:rPr lang="de-DE" dirty="0"/>
              <a:t>,</a:t>
            </a:r>
          </a:p>
          <a:p>
            <a:r>
              <a:rPr lang="de-DE" dirty="0"/>
              <a:t>           SUM(CASE WHEN Status = 1 THEN 1 ELSE 0 END) AS Zurückgegeben</a:t>
            </a:r>
          </a:p>
          <a:p>
            <a:r>
              <a:rPr lang="de-DE" dirty="0"/>
              <a:t>    FROM ausleihe</a:t>
            </a:r>
          </a:p>
          <a:p>
            <a:r>
              <a:rPr lang="de-DE" dirty="0"/>
              <a:t>    WHERE YEAR(</a:t>
            </a:r>
            <a:r>
              <a:rPr lang="de-DE" dirty="0" err="1"/>
              <a:t>Ausleihedatum</a:t>
            </a:r>
            <a:r>
              <a:rPr lang="de-DE" dirty="0"/>
              <a:t>) = 2026</a:t>
            </a:r>
          </a:p>
          <a:p>
            <a:r>
              <a:rPr lang="de-DE" dirty="0"/>
              <a:t>    GROUP BY MONTH(</a:t>
            </a:r>
            <a:r>
              <a:rPr lang="de-DE" dirty="0" err="1"/>
              <a:t>Ausleihedatum</a:t>
            </a:r>
            <a:r>
              <a:rPr lang="de-DE" dirty="0"/>
              <a:t>)</a:t>
            </a:r>
          </a:p>
          <a:p>
            <a:r>
              <a:rPr lang="de-DE" dirty="0"/>
              <a:t>    ORDER BY Monat</a:t>
            </a:r>
          </a:p>
        </p:txBody>
      </p:sp>
      <p:pic>
        <p:nvPicPr>
          <p:cNvPr id="7" name="Grafik 6" descr="The image shows a bar chart illustrating the number of books borrowed per month in 2026, with a peak in January and a steady decline towards February.&#10;&#10;KI-generierte Inhalte können fehlerhaft sein.">
            <a:extLst>
              <a:ext uri="{FF2B5EF4-FFF2-40B4-BE49-F238E27FC236}">
                <a16:creationId xmlns:a16="http://schemas.microsoft.com/office/drawing/2014/main" id="{A709D323-B4BF-D649-3F5E-4D101FC960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325" y="2463743"/>
            <a:ext cx="5852172" cy="4389129"/>
          </a:xfrm>
          <a:prstGeom prst="rect">
            <a:avLst/>
          </a:prstGeom>
        </p:spPr>
      </p:pic>
      <p:pic>
        <p:nvPicPr>
          <p:cNvPr id="9" name="Grafik 8" descr="Noch&#10;&#10;KI-generierte Inhalte können fehlerhaft sein.">
            <a:extLst>
              <a:ext uri="{FF2B5EF4-FFF2-40B4-BE49-F238E27FC236}">
                <a16:creationId xmlns:a16="http://schemas.microsoft.com/office/drawing/2014/main" id="{352C5446-FB60-E5E0-0520-652158333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020" y="3832548"/>
            <a:ext cx="4786998" cy="2031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2205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B9A02-3588-299C-B1D2-60A8CC3CD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29D2-1F8D-BB8C-C237-A348AA9BE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Trigger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DCAB8BE-3EEB-7EDB-E30D-5AFC99392313}"/>
              </a:ext>
            </a:extLst>
          </p:cNvPr>
          <p:cNvSpPr txBox="1"/>
          <p:nvPr/>
        </p:nvSpPr>
        <p:spPr>
          <a:xfrm>
            <a:off x="931024" y="2050473"/>
            <a:ext cx="810213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Beispiel:</a:t>
            </a:r>
          </a:p>
          <a:p>
            <a:r>
              <a:rPr lang="de-DE" dirty="0">
                <a:solidFill>
                  <a:srgbClr val="0070C0"/>
                </a:solidFill>
              </a:rPr>
              <a:t>CREATE TRIGGER </a:t>
            </a:r>
            <a:r>
              <a:rPr lang="de-DE" dirty="0" err="1"/>
              <a:t>trg_ausleihe_insert</a:t>
            </a:r>
            <a:r>
              <a:rPr lang="de-DE" dirty="0"/>
              <a:t> </a:t>
            </a:r>
          </a:p>
          <a:p>
            <a:r>
              <a:rPr lang="de-DE" dirty="0">
                <a:solidFill>
                  <a:srgbClr val="0070C0"/>
                </a:solidFill>
              </a:rPr>
              <a:t>AFTER INSERT ON </a:t>
            </a:r>
            <a:r>
              <a:rPr lang="de-DE" dirty="0"/>
              <a:t>ausleihe </a:t>
            </a:r>
            <a:r>
              <a:rPr lang="de-DE" dirty="0">
                <a:solidFill>
                  <a:srgbClr val="0070C0"/>
                </a:solidFill>
              </a:rPr>
              <a:t>FOR EACH ROW </a:t>
            </a:r>
          </a:p>
          <a:p>
            <a:r>
              <a:rPr lang="de-DE" dirty="0">
                <a:solidFill>
                  <a:srgbClr val="0070C0"/>
                </a:solidFill>
              </a:rPr>
              <a:t>IF</a:t>
            </a:r>
            <a:r>
              <a:rPr lang="de-DE" dirty="0"/>
              <a:t> </a:t>
            </a:r>
            <a:r>
              <a:rPr lang="de-DE" dirty="0" err="1"/>
              <a:t>NEW.Status</a:t>
            </a:r>
            <a:r>
              <a:rPr lang="de-DE" dirty="0"/>
              <a:t> = 0 </a:t>
            </a:r>
            <a:r>
              <a:rPr lang="de-DE" dirty="0">
                <a:solidFill>
                  <a:srgbClr val="0070C0"/>
                </a:solidFill>
              </a:rPr>
              <a:t>THEN UPDATE </a:t>
            </a:r>
            <a:r>
              <a:rPr lang="de-DE" dirty="0"/>
              <a:t>medium </a:t>
            </a:r>
          </a:p>
          <a:p>
            <a:r>
              <a:rPr lang="de-DE" dirty="0">
                <a:solidFill>
                  <a:srgbClr val="0070C0"/>
                </a:solidFill>
              </a:rPr>
              <a:t>SET</a:t>
            </a:r>
            <a:r>
              <a:rPr lang="de-DE" dirty="0"/>
              <a:t> </a:t>
            </a:r>
            <a:r>
              <a:rPr lang="de-DE" dirty="0" err="1"/>
              <a:t>Verfuegbarkeit</a:t>
            </a:r>
            <a:r>
              <a:rPr lang="de-DE" dirty="0"/>
              <a:t> = 0 </a:t>
            </a:r>
            <a:r>
              <a:rPr lang="de-DE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</a:t>
            </a:r>
            <a:r>
              <a:rPr lang="de-DE" dirty="0" err="1"/>
              <a:t>NEW.MediumID</a:t>
            </a:r>
            <a:r>
              <a:rPr lang="de-DE" dirty="0"/>
              <a:t>; </a:t>
            </a:r>
          </a:p>
          <a:p>
            <a:r>
              <a:rPr lang="de-DE" dirty="0">
                <a:solidFill>
                  <a:srgbClr val="0070C0"/>
                </a:solidFill>
              </a:rPr>
              <a:t>END IF$$</a:t>
            </a:r>
          </a:p>
          <a:p>
            <a:endParaRPr lang="de-DE" dirty="0"/>
          </a:p>
          <a:p>
            <a:r>
              <a:rPr lang="de-DE" dirty="0">
                <a:solidFill>
                  <a:srgbClr val="0070C0"/>
                </a:solidFill>
              </a:rPr>
              <a:t>CREATE TRIGGER </a:t>
            </a:r>
            <a:r>
              <a:rPr lang="de-DE" dirty="0" err="1"/>
              <a:t>trg_ausleihe_update</a:t>
            </a:r>
            <a:r>
              <a:rPr lang="de-DE" dirty="0"/>
              <a:t> </a:t>
            </a:r>
          </a:p>
          <a:p>
            <a:r>
              <a:rPr lang="de-DE" dirty="0">
                <a:solidFill>
                  <a:srgbClr val="0070C0"/>
                </a:solidFill>
              </a:rPr>
              <a:t>AFTER UPDATE ON </a:t>
            </a:r>
            <a:r>
              <a:rPr lang="de-DE" dirty="0"/>
              <a:t>ausleihe </a:t>
            </a:r>
            <a:r>
              <a:rPr lang="de-DE" dirty="0">
                <a:solidFill>
                  <a:srgbClr val="0070C0"/>
                </a:solidFill>
              </a:rPr>
              <a:t>FOR EACH ROW </a:t>
            </a:r>
          </a:p>
          <a:p>
            <a:r>
              <a:rPr lang="de-DE" dirty="0">
                <a:solidFill>
                  <a:srgbClr val="0070C0"/>
                </a:solidFill>
              </a:rPr>
              <a:t>IF</a:t>
            </a:r>
            <a:r>
              <a:rPr lang="de-DE" dirty="0"/>
              <a:t> </a:t>
            </a:r>
            <a:r>
              <a:rPr lang="de-DE" dirty="0" err="1"/>
              <a:t>NEW.Status</a:t>
            </a:r>
            <a:r>
              <a:rPr lang="de-DE" dirty="0"/>
              <a:t> = 1 AND </a:t>
            </a:r>
            <a:r>
              <a:rPr lang="de-DE" dirty="0" err="1"/>
              <a:t>OLD.Status</a:t>
            </a:r>
            <a:r>
              <a:rPr lang="de-DE" dirty="0"/>
              <a:t> = 0 THEN </a:t>
            </a:r>
            <a:r>
              <a:rPr lang="de-DE" dirty="0">
                <a:solidFill>
                  <a:srgbClr val="0070C0"/>
                </a:solidFill>
              </a:rPr>
              <a:t>UPDATE</a:t>
            </a:r>
            <a:r>
              <a:rPr lang="de-DE" dirty="0"/>
              <a:t> medium </a:t>
            </a:r>
          </a:p>
          <a:p>
            <a:r>
              <a:rPr lang="de-DE" dirty="0">
                <a:solidFill>
                  <a:srgbClr val="0070C0"/>
                </a:solidFill>
              </a:rPr>
              <a:t>SET</a:t>
            </a:r>
            <a:r>
              <a:rPr lang="de-DE" dirty="0"/>
              <a:t> </a:t>
            </a:r>
            <a:r>
              <a:rPr lang="de-DE" dirty="0" err="1"/>
              <a:t>Verfuegbarkeit</a:t>
            </a:r>
            <a:r>
              <a:rPr lang="de-DE" dirty="0"/>
              <a:t> = 1 </a:t>
            </a:r>
            <a:r>
              <a:rPr lang="de-DE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</a:t>
            </a:r>
            <a:r>
              <a:rPr lang="de-DE" dirty="0" err="1"/>
              <a:t>NEW.MediumID</a:t>
            </a:r>
            <a:r>
              <a:rPr lang="de-DE" dirty="0"/>
              <a:t>; </a:t>
            </a:r>
          </a:p>
          <a:p>
            <a:r>
              <a:rPr lang="de-DE" dirty="0">
                <a:solidFill>
                  <a:srgbClr val="0070C0"/>
                </a:solidFill>
              </a:rPr>
              <a:t>END IF$$</a:t>
            </a:r>
          </a:p>
        </p:txBody>
      </p:sp>
    </p:spTree>
    <p:extLst>
      <p:ext uri="{BB962C8B-B14F-4D97-AF65-F5344CB8AC3E}">
        <p14:creationId xmlns:p14="http://schemas.microsoft.com/office/powerpoint/2010/main" val="6023061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D529-29E5-862C-7627-9E44544FA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3092EF-C915-4F77-85A0-B870ADCBD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Trigger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FB5353B-5FDA-B518-907E-15E707ED0860}"/>
              </a:ext>
            </a:extLst>
          </p:cNvPr>
          <p:cNvSpPr txBox="1"/>
          <p:nvPr/>
        </p:nvSpPr>
        <p:spPr>
          <a:xfrm>
            <a:off x="931024" y="2050473"/>
            <a:ext cx="810213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0070C0"/>
                </a:solidFill>
              </a:rPr>
              <a:t>CREATE TRIGGER </a:t>
            </a:r>
            <a:r>
              <a:rPr lang="de-DE" dirty="0" err="1"/>
              <a:t>trg_mahnung_sperre</a:t>
            </a:r>
            <a:endParaRPr lang="de-DE" dirty="0"/>
          </a:p>
          <a:p>
            <a:r>
              <a:rPr lang="de-DE" dirty="0">
                <a:solidFill>
                  <a:srgbClr val="0070C0"/>
                </a:solidFill>
              </a:rPr>
              <a:t>AFTER INSERT ON </a:t>
            </a:r>
            <a:r>
              <a:rPr lang="de-DE" dirty="0" err="1"/>
              <a:t>mahnung</a:t>
            </a:r>
            <a:r>
              <a:rPr lang="de-DE" dirty="0"/>
              <a:t> </a:t>
            </a:r>
            <a:r>
              <a:rPr lang="de-DE" dirty="0">
                <a:solidFill>
                  <a:srgbClr val="0070C0"/>
                </a:solidFill>
              </a:rPr>
              <a:t>FOR EACH ROW    </a:t>
            </a:r>
          </a:p>
          <a:p>
            <a:r>
              <a:rPr lang="de-DE" dirty="0">
                <a:solidFill>
                  <a:srgbClr val="0070C0"/>
                </a:solidFill>
              </a:rPr>
              <a:t>IF</a:t>
            </a:r>
            <a:r>
              <a:rPr lang="de-DE" dirty="0"/>
              <a:t> </a:t>
            </a:r>
            <a:r>
              <a:rPr lang="de-DE" dirty="0" err="1"/>
              <a:t>NEW.Mahnstufe</a:t>
            </a:r>
            <a:r>
              <a:rPr lang="de-DE" dirty="0"/>
              <a:t> = 3 </a:t>
            </a:r>
            <a:r>
              <a:rPr lang="de-DE" dirty="0">
                <a:solidFill>
                  <a:srgbClr val="0070C0"/>
                </a:solidFill>
              </a:rPr>
              <a:t>THEN</a:t>
            </a:r>
            <a:r>
              <a:rPr lang="de-DE" dirty="0"/>
              <a:t>        </a:t>
            </a:r>
          </a:p>
          <a:p>
            <a:r>
              <a:rPr lang="de-DE" dirty="0">
                <a:solidFill>
                  <a:srgbClr val="0070C0"/>
                </a:solidFill>
              </a:rPr>
              <a:t>UPDATE</a:t>
            </a:r>
            <a:r>
              <a:rPr lang="de-DE" dirty="0"/>
              <a:t> </a:t>
            </a:r>
            <a:r>
              <a:rPr lang="de-DE" dirty="0" err="1"/>
              <a:t>mitglied</a:t>
            </a:r>
            <a:r>
              <a:rPr lang="de-DE" dirty="0"/>
              <a:t> SET Ausleiherlaubnis = 1        </a:t>
            </a:r>
          </a:p>
          <a:p>
            <a:r>
              <a:rPr lang="de-DE" dirty="0">
                <a:solidFill>
                  <a:srgbClr val="0070C0"/>
                </a:solidFill>
              </a:rPr>
              <a:t>WHERE </a:t>
            </a:r>
            <a:r>
              <a:rPr lang="de-DE" dirty="0" err="1"/>
              <a:t>PersonenID</a:t>
            </a:r>
            <a:r>
              <a:rPr lang="de-DE" dirty="0"/>
              <a:t> = </a:t>
            </a:r>
            <a:r>
              <a:rPr lang="de-DE" dirty="0" err="1"/>
              <a:t>NEW.MitgliedID</a:t>
            </a:r>
            <a:r>
              <a:rPr lang="de-DE" dirty="0"/>
              <a:t>;    </a:t>
            </a:r>
          </a:p>
          <a:p>
            <a:r>
              <a:rPr lang="de-DE" dirty="0">
                <a:solidFill>
                  <a:srgbClr val="0070C0"/>
                </a:solidFill>
              </a:rPr>
              <a:t>END IF$$</a:t>
            </a:r>
          </a:p>
        </p:txBody>
      </p:sp>
    </p:spTree>
    <p:extLst>
      <p:ext uri="{BB962C8B-B14F-4D97-AF65-F5344CB8AC3E}">
        <p14:creationId xmlns:p14="http://schemas.microsoft.com/office/powerpoint/2010/main" val="9779446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34D-C210-3207-5B71-AD4757277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A5964-3AA6-2FA3-1965-C6FD58883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Trigger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9DD2887E-4F09-EAD2-63BA-E7119A1DED4E}"/>
              </a:ext>
            </a:extLst>
          </p:cNvPr>
          <p:cNvGrpSpPr/>
          <p:nvPr/>
        </p:nvGrpSpPr>
        <p:grpSpPr>
          <a:xfrm>
            <a:off x="8600645" y="2213857"/>
            <a:ext cx="3319260" cy="3319260"/>
            <a:chOff x="645908" y="2156347"/>
            <a:chExt cx="3319260" cy="3319260"/>
          </a:xfrm>
        </p:grpSpPr>
        <p:pic>
          <p:nvPicPr>
            <p:cNvPr id="5" name="Grafik 4" descr="Frau Silhouette">
              <a:extLst>
                <a:ext uri="{FF2B5EF4-FFF2-40B4-BE49-F238E27FC236}">
                  <a16:creationId xmlns:a16="http://schemas.microsoft.com/office/drawing/2014/main" id="{97FA342B-8DB0-6FE2-01CD-99DB02AC03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45908" y="2156347"/>
              <a:ext cx="3319260" cy="3319260"/>
            </a:xfrm>
            <a:prstGeom prst="rect">
              <a:avLst/>
            </a:prstGeom>
          </p:spPr>
        </p:pic>
        <p:pic>
          <p:nvPicPr>
            <p:cNvPr id="7" name="Grafik 6" descr="Geschlossenes Buch Silhouette">
              <a:extLst>
                <a:ext uri="{FF2B5EF4-FFF2-40B4-BE49-F238E27FC236}">
                  <a16:creationId xmlns:a16="http://schemas.microsoft.com/office/drawing/2014/main" id="{F6F9DF15-C138-A391-2B77-9CCE22A4B3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841009" y="3473355"/>
              <a:ext cx="914400" cy="914400"/>
            </a:xfrm>
            <a:prstGeom prst="rect">
              <a:avLst/>
            </a:prstGeom>
          </p:spPr>
        </p:pic>
      </p:grpSp>
      <p:sp>
        <p:nvSpPr>
          <p:cNvPr id="8" name="Textfeld 7">
            <a:extLst>
              <a:ext uri="{FF2B5EF4-FFF2-40B4-BE49-F238E27FC236}">
                <a16:creationId xmlns:a16="http://schemas.microsoft.com/office/drawing/2014/main" id="{6F1051A8-0DC8-F159-3372-04C077D9296C}"/>
              </a:ext>
            </a:extLst>
          </p:cNvPr>
          <p:cNvSpPr txBox="1"/>
          <p:nvPr/>
        </p:nvSpPr>
        <p:spPr>
          <a:xfrm>
            <a:off x="508476" y="1472830"/>
            <a:ext cx="97517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-&gt;Ausgangszustand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endParaRPr lang="de-DE" dirty="0"/>
          </a:p>
          <a:p>
            <a:r>
              <a:rPr lang="de-DE" dirty="0"/>
              <a:t>-&gt;Insert</a:t>
            </a:r>
          </a:p>
          <a:p>
            <a:r>
              <a:rPr lang="de-DE" b="1" dirty="0">
                <a:solidFill>
                  <a:srgbClr val="0070C0"/>
                </a:solidFill>
              </a:rPr>
              <a:t>INSERT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INTO</a:t>
            </a:r>
            <a:r>
              <a:rPr lang="de-DE" dirty="0"/>
              <a:t> ausleihe (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Status,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) </a:t>
            </a:r>
            <a:r>
              <a:rPr lang="de-DE" b="1" dirty="0">
                <a:solidFill>
                  <a:srgbClr val="0070C0"/>
                </a:solidFill>
              </a:rPr>
              <a:t>VALUES</a:t>
            </a:r>
            <a:r>
              <a:rPr lang="de-DE" dirty="0"/>
              <a:t> (101, '2026-06-14', NULL, 0, 1, 10);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endParaRPr lang="de-DE" dirty="0"/>
          </a:p>
          <a:p>
            <a:r>
              <a:rPr lang="de-DE" dirty="0"/>
              <a:t>-&gt;Update</a:t>
            </a:r>
          </a:p>
          <a:p>
            <a:r>
              <a:rPr lang="de-DE" b="1" dirty="0">
                <a:solidFill>
                  <a:srgbClr val="0070C0"/>
                </a:solidFill>
              </a:rPr>
              <a:t>UPDATE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SET</a:t>
            </a:r>
            <a:r>
              <a:rPr lang="de-DE" dirty="0"/>
              <a:t> Status = 1, </a:t>
            </a:r>
            <a:r>
              <a:rPr lang="de-DE" dirty="0" err="1"/>
              <a:t>Rueckgabedatum</a:t>
            </a:r>
            <a:r>
              <a:rPr lang="de-DE" dirty="0"/>
              <a:t> = '2026-06-20'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 = 101;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, Titel, </a:t>
            </a:r>
            <a:r>
              <a:rPr lang="de-DE" dirty="0" err="1"/>
              <a:t>Verfuegbarkeit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medium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  <a:p>
            <a:r>
              <a:rPr lang="de-DE" b="1" dirty="0">
                <a:solidFill>
                  <a:srgbClr val="0070C0"/>
                </a:solidFill>
              </a:rPr>
              <a:t>SELECT</a:t>
            </a:r>
            <a:r>
              <a:rPr lang="de-DE" dirty="0"/>
              <a:t> </a:t>
            </a:r>
            <a:r>
              <a:rPr lang="de-DE" dirty="0" err="1"/>
              <a:t>AusleiheID</a:t>
            </a:r>
            <a:r>
              <a:rPr lang="de-DE" dirty="0"/>
              <a:t>, </a:t>
            </a:r>
            <a:r>
              <a:rPr lang="de-DE" dirty="0" err="1"/>
              <a:t>Ausleihedatum</a:t>
            </a:r>
            <a:r>
              <a:rPr lang="de-DE" dirty="0"/>
              <a:t>, </a:t>
            </a:r>
            <a:r>
              <a:rPr lang="de-DE" dirty="0" err="1"/>
              <a:t>Rueckgabedatum</a:t>
            </a:r>
            <a:r>
              <a:rPr lang="de-DE" dirty="0"/>
              <a:t>, </a:t>
            </a:r>
            <a:r>
              <a:rPr lang="de-DE" dirty="0" err="1"/>
              <a:t>status</a:t>
            </a:r>
            <a:r>
              <a:rPr lang="de-DE" dirty="0"/>
              <a:t>, </a:t>
            </a:r>
            <a:r>
              <a:rPr lang="de-DE" dirty="0" err="1"/>
              <a:t>MitgliedID</a:t>
            </a:r>
            <a:r>
              <a:rPr lang="de-DE" dirty="0"/>
              <a:t>, </a:t>
            </a:r>
            <a:r>
              <a:rPr lang="de-DE" dirty="0" err="1"/>
              <a:t>MediumID</a:t>
            </a:r>
            <a:r>
              <a:rPr lang="de-DE" dirty="0"/>
              <a:t> </a:t>
            </a:r>
            <a:r>
              <a:rPr lang="de-DE" b="1" dirty="0">
                <a:solidFill>
                  <a:srgbClr val="0070C0"/>
                </a:solidFill>
              </a:rPr>
              <a:t>FROM</a:t>
            </a:r>
            <a:r>
              <a:rPr lang="de-DE" dirty="0"/>
              <a:t> ausleihe </a:t>
            </a:r>
            <a:r>
              <a:rPr lang="de-DE" b="1" dirty="0">
                <a:solidFill>
                  <a:srgbClr val="0070C0"/>
                </a:solidFill>
              </a:rPr>
              <a:t>WHERE</a:t>
            </a:r>
            <a:r>
              <a:rPr lang="de-DE" dirty="0"/>
              <a:t> </a:t>
            </a:r>
            <a:r>
              <a:rPr lang="de-DE" dirty="0" err="1"/>
              <a:t>MediumID</a:t>
            </a:r>
            <a:r>
              <a:rPr lang="de-DE" dirty="0"/>
              <a:t> = 10;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9C51F07-4527-E760-1459-B7D7D1B3979C}"/>
              </a:ext>
            </a:extLst>
          </p:cNvPr>
          <p:cNvSpPr txBox="1"/>
          <p:nvPr/>
        </p:nvSpPr>
        <p:spPr>
          <a:xfrm>
            <a:off x="9860711" y="1897722"/>
            <a:ext cx="111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ANNA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32DDB52-EB7C-AA42-BE6A-0E3919CC1DF5}"/>
              </a:ext>
            </a:extLst>
          </p:cNvPr>
          <p:cNvSpPr txBox="1"/>
          <p:nvPr/>
        </p:nvSpPr>
        <p:spPr>
          <a:xfrm>
            <a:off x="10901631" y="3161533"/>
            <a:ext cx="1290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Analysis 1</a:t>
            </a:r>
          </a:p>
        </p:txBody>
      </p:sp>
    </p:spTree>
    <p:extLst>
      <p:ext uri="{BB962C8B-B14F-4D97-AF65-F5344CB8AC3E}">
        <p14:creationId xmlns:p14="http://schemas.microsoft.com/office/powerpoint/2010/main" val="41386431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B9CA6-964C-0A1D-85C9-E295C4DB8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B994A6-A646-821B-C28C-9C9385BE0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Views</a:t>
            </a:r>
          </a:p>
        </p:txBody>
      </p:sp>
      <p:pic>
        <p:nvPicPr>
          <p:cNvPr id="5" name="Grafik 4" descr="Gruppe von Personen mit einfarbiger Füllung">
            <a:extLst>
              <a:ext uri="{FF2B5EF4-FFF2-40B4-BE49-F238E27FC236}">
                <a16:creationId xmlns:a16="http://schemas.microsoft.com/office/drawing/2014/main" id="{FF072489-227C-2F79-80E9-64AF30AE04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39756" y="2729677"/>
            <a:ext cx="2801078" cy="2801078"/>
          </a:xfrm>
          <a:prstGeom prst="rect">
            <a:avLst/>
          </a:prstGeom>
        </p:spPr>
      </p:pic>
      <p:pic>
        <p:nvPicPr>
          <p:cNvPr id="7" name="Grafik 6" descr="Kinder mit einfarbiger Füllung">
            <a:extLst>
              <a:ext uri="{FF2B5EF4-FFF2-40B4-BE49-F238E27FC236}">
                <a16:creationId xmlns:a16="http://schemas.microsoft.com/office/drawing/2014/main" id="{EE3436D3-C44E-20DC-12F9-C99DE011F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3009" y="3311470"/>
            <a:ext cx="2801078" cy="280107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125B85F7-0DF9-B6BB-958E-E72EED1FD442}"/>
              </a:ext>
            </a:extLst>
          </p:cNvPr>
          <p:cNvSpPr txBox="1"/>
          <p:nvPr/>
        </p:nvSpPr>
        <p:spPr>
          <a:xfrm>
            <a:off x="2170119" y="5530755"/>
            <a:ext cx="2694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Mitglieder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4BE59AB-3855-91B1-6726-7C65C80EEC86}"/>
              </a:ext>
            </a:extLst>
          </p:cNvPr>
          <p:cNvSpPr txBox="1"/>
          <p:nvPr/>
        </p:nvSpPr>
        <p:spPr>
          <a:xfrm>
            <a:off x="8286465" y="5441751"/>
            <a:ext cx="2694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Mitarbeiter</a:t>
            </a:r>
          </a:p>
        </p:txBody>
      </p:sp>
    </p:spTree>
    <p:extLst>
      <p:ext uri="{BB962C8B-B14F-4D97-AF65-F5344CB8AC3E}">
        <p14:creationId xmlns:p14="http://schemas.microsoft.com/office/powerpoint/2010/main" val="32098452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CF056-7E44-A81B-DB8D-38E473FE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DE0881-0D33-C204-06BA-28E24AB92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Views</a:t>
            </a:r>
          </a:p>
        </p:txBody>
      </p:sp>
      <p:pic>
        <p:nvPicPr>
          <p:cNvPr id="5" name="Grafik 4" descr="Gruppe von Personen mit einfarbiger Füllung">
            <a:extLst>
              <a:ext uri="{FF2B5EF4-FFF2-40B4-BE49-F238E27FC236}">
                <a16:creationId xmlns:a16="http://schemas.microsoft.com/office/drawing/2014/main" id="{76BAD4D3-A9A2-9EA4-F5AA-2DE623C503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39756" y="2729677"/>
            <a:ext cx="2801078" cy="280107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FED49D0-36B0-B634-4364-03FEF6783150}"/>
              </a:ext>
            </a:extLst>
          </p:cNvPr>
          <p:cNvSpPr txBox="1"/>
          <p:nvPr/>
        </p:nvSpPr>
        <p:spPr>
          <a:xfrm>
            <a:off x="2170119" y="5530755"/>
            <a:ext cx="26941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Mitglieder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418BE1D-D6E9-F9D8-8E9C-1256E52E1B81}"/>
              </a:ext>
            </a:extLst>
          </p:cNvPr>
          <p:cNvSpPr txBox="1"/>
          <p:nvPr/>
        </p:nvSpPr>
        <p:spPr>
          <a:xfrm>
            <a:off x="4864290" y="2114435"/>
            <a:ext cx="707832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0070C0"/>
                </a:solidFill>
              </a:rPr>
              <a:t>CREATE VIEW</a:t>
            </a:r>
            <a:r>
              <a:rPr lang="de-DE" dirty="0"/>
              <a:t> </a:t>
            </a:r>
            <a:r>
              <a:rPr lang="de-DE" dirty="0" err="1"/>
              <a:t>v_regalfaecher</a:t>
            </a:r>
            <a:r>
              <a:rPr lang="de-DE" dirty="0"/>
              <a:t> </a:t>
            </a:r>
            <a:r>
              <a:rPr lang="de-DE" dirty="0">
                <a:solidFill>
                  <a:srgbClr val="0070C0"/>
                </a:solidFill>
              </a:rPr>
              <a:t>AS</a:t>
            </a:r>
          </a:p>
          <a:p>
            <a:r>
              <a:rPr lang="de-DE" dirty="0">
                <a:solidFill>
                  <a:srgbClr val="0070C0"/>
                </a:solidFill>
              </a:rPr>
              <a:t>SELECT</a:t>
            </a:r>
          </a:p>
          <a:p>
            <a:r>
              <a:rPr lang="de-DE" dirty="0"/>
              <a:t>    </a:t>
            </a:r>
            <a:r>
              <a:rPr lang="de-DE" dirty="0" err="1"/>
              <a:t>r.Regalnummer</a:t>
            </a:r>
            <a:r>
              <a:rPr lang="de-DE" dirty="0"/>
              <a:t>,</a:t>
            </a:r>
          </a:p>
          <a:p>
            <a:r>
              <a:rPr lang="de-DE" dirty="0"/>
              <a:t>    </a:t>
            </a:r>
            <a:r>
              <a:rPr lang="de-DE" dirty="0" err="1"/>
              <a:t>r.Fachnummer</a:t>
            </a:r>
            <a:r>
              <a:rPr lang="de-DE" dirty="0"/>
              <a:t>,</a:t>
            </a:r>
          </a:p>
          <a:p>
            <a:r>
              <a:rPr lang="de-DE" dirty="0"/>
              <a:t>    </a:t>
            </a:r>
            <a:r>
              <a:rPr lang="de-DE" dirty="0" err="1"/>
              <a:t>m.Titel</a:t>
            </a:r>
            <a:r>
              <a:rPr lang="de-DE" dirty="0"/>
              <a:t>,</a:t>
            </a:r>
          </a:p>
          <a:p>
            <a:r>
              <a:rPr lang="de-DE" dirty="0"/>
              <a:t>    </a:t>
            </a:r>
            <a:r>
              <a:rPr lang="de-DE" dirty="0">
                <a:solidFill>
                  <a:srgbClr val="0070C0"/>
                </a:solidFill>
              </a:rPr>
              <a:t>CASE</a:t>
            </a:r>
          </a:p>
          <a:p>
            <a:r>
              <a:rPr lang="de-DE" dirty="0"/>
              <a:t>        </a:t>
            </a:r>
            <a:r>
              <a:rPr lang="de-DE" dirty="0">
                <a:solidFill>
                  <a:srgbClr val="0070C0"/>
                </a:solidFill>
              </a:rPr>
              <a:t>WHEN</a:t>
            </a:r>
            <a:r>
              <a:rPr lang="de-DE" dirty="0"/>
              <a:t> </a:t>
            </a:r>
            <a:r>
              <a:rPr lang="de-DE" dirty="0" err="1"/>
              <a:t>m.Verfuegbarkeit</a:t>
            </a:r>
            <a:r>
              <a:rPr lang="de-DE" dirty="0"/>
              <a:t> = 1 </a:t>
            </a:r>
            <a:r>
              <a:rPr lang="de-DE" dirty="0">
                <a:solidFill>
                  <a:srgbClr val="0070C0"/>
                </a:solidFill>
              </a:rPr>
              <a:t>THEN</a:t>
            </a:r>
            <a:r>
              <a:rPr lang="de-DE" dirty="0"/>
              <a:t> 'Verfügbar'</a:t>
            </a:r>
          </a:p>
          <a:p>
            <a:r>
              <a:rPr lang="de-DE" dirty="0"/>
              <a:t>        </a:t>
            </a:r>
            <a:r>
              <a:rPr lang="de-DE" dirty="0">
                <a:solidFill>
                  <a:srgbClr val="0070C0"/>
                </a:solidFill>
              </a:rPr>
              <a:t>ELSE</a:t>
            </a:r>
            <a:r>
              <a:rPr lang="de-DE" dirty="0"/>
              <a:t> 'Nicht verfügbar'</a:t>
            </a:r>
          </a:p>
          <a:p>
            <a:r>
              <a:rPr lang="de-DE" dirty="0"/>
              <a:t>    </a:t>
            </a:r>
            <a:r>
              <a:rPr lang="de-DE" dirty="0">
                <a:solidFill>
                  <a:srgbClr val="0070C0"/>
                </a:solidFill>
              </a:rPr>
              <a:t>END AS</a:t>
            </a:r>
            <a:r>
              <a:rPr lang="de-DE" dirty="0"/>
              <a:t> </a:t>
            </a:r>
            <a:r>
              <a:rPr lang="de-DE" dirty="0" err="1"/>
              <a:t>Verfuegbarkeit</a:t>
            </a:r>
            <a:endParaRPr lang="de-DE" dirty="0"/>
          </a:p>
          <a:p>
            <a:r>
              <a:rPr lang="de-DE" dirty="0">
                <a:solidFill>
                  <a:srgbClr val="0070C0"/>
                </a:solidFill>
              </a:rPr>
              <a:t>FROM</a:t>
            </a:r>
            <a:r>
              <a:rPr lang="de-DE" dirty="0"/>
              <a:t> regalfach r</a:t>
            </a:r>
          </a:p>
          <a:p>
            <a:r>
              <a:rPr lang="de-DE" dirty="0">
                <a:solidFill>
                  <a:srgbClr val="0070C0"/>
                </a:solidFill>
              </a:rPr>
              <a:t>LEFT JOIN</a:t>
            </a:r>
            <a:r>
              <a:rPr lang="de-DE" dirty="0"/>
              <a:t> </a:t>
            </a:r>
            <a:r>
              <a:rPr lang="de-DE" dirty="0" err="1"/>
              <a:t>analogesmedium</a:t>
            </a:r>
            <a:r>
              <a:rPr lang="de-DE" dirty="0"/>
              <a:t> am </a:t>
            </a:r>
            <a:r>
              <a:rPr lang="de-DE" dirty="0">
                <a:solidFill>
                  <a:srgbClr val="0070C0"/>
                </a:solidFill>
              </a:rPr>
              <a:t>ON</a:t>
            </a:r>
            <a:r>
              <a:rPr lang="de-DE" dirty="0"/>
              <a:t> </a:t>
            </a:r>
            <a:r>
              <a:rPr lang="de-DE" dirty="0" err="1"/>
              <a:t>am.RegalfachID</a:t>
            </a:r>
            <a:r>
              <a:rPr lang="de-DE" dirty="0"/>
              <a:t> = </a:t>
            </a:r>
            <a:r>
              <a:rPr lang="de-DE" dirty="0" err="1"/>
              <a:t>r.RegalfachID</a:t>
            </a:r>
            <a:endParaRPr lang="de-DE" dirty="0"/>
          </a:p>
          <a:p>
            <a:r>
              <a:rPr lang="de-DE" dirty="0">
                <a:solidFill>
                  <a:srgbClr val="0070C0"/>
                </a:solidFill>
              </a:rPr>
              <a:t>LEFT JOIN</a:t>
            </a:r>
            <a:r>
              <a:rPr lang="de-DE" dirty="0"/>
              <a:t> medium         m  </a:t>
            </a:r>
            <a:r>
              <a:rPr lang="de-DE" dirty="0">
                <a:solidFill>
                  <a:srgbClr val="0070C0"/>
                </a:solidFill>
              </a:rPr>
              <a:t>ON</a:t>
            </a:r>
            <a:r>
              <a:rPr lang="de-DE" dirty="0"/>
              <a:t> </a:t>
            </a:r>
            <a:r>
              <a:rPr lang="de-DE" dirty="0" err="1"/>
              <a:t>m.MediumID</a:t>
            </a:r>
            <a:r>
              <a:rPr lang="de-DE" dirty="0"/>
              <a:t>     = </a:t>
            </a:r>
            <a:r>
              <a:rPr lang="de-DE" dirty="0" err="1"/>
              <a:t>am.MediumID</a:t>
            </a:r>
            <a:r>
              <a:rPr lang="de-DE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697747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A59A8-4F01-D98E-A121-2B340E023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Verbesserungsmöglichkeiten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F1E471-B347-D5F5-860D-5E3CAFBB9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Benachrichtigungssystem (Relation Erinnerung)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Lieferung als Spezialisierung der Ausleihe -&gt; nicht vollständige Vererbung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51249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0173AE-0365-0D58-E8E4-2DEB211ED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E7CE676-264C-7AB3-BCB1-3234A1A9E5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Anforderungen erfolgreich umgesetzt</a:t>
            </a:r>
          </a:p>
          <a:p>
            <a:endParaRPr lang="de-DE" dirty="0"/>
          </a:p>
          <a:p>
            <a:r>
              <a:rPr lang="de-DE" dirty="0"/>
              <a:t> Zentrale Bibliotheksprozesse sinnvoll abgebildet</a:t>
            </a:r>
          </a:p>
          <a:p>
            <a:endParaRPr lang="de-DE" dirty="0"/>
          </a:p>
          <a:p>
            <a:r>
              <a:rPr lang="de-DE" dirty="0"/>
              <a:t>Datenbank gewährleistet Datenintegrität (Trigger, Fremdschlüssel)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Erweiterungen sind jederzeit möglich</a:t>
            </a:r>
          </a:p>
        </p:txBody>
      </p:sp>
    </p:spTree>
    <p:extLst>
      <p:ext uri="{BB962C8B-B14F-4D97-AF65-F5344CB8AC3E}">
        <p14:creationId xmlns:p14="http://schemas.microsoft.com/office/powerpoint/2010/main" val="3002410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1098</Words>
  <Application>Microsoft Office PowerPoint</Application>
  <PresentationFormat>Breitbild</PresentationFormat>
  <Paragraphs>348</Paragraphs>
  <Slides>30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Office</vt:lpstr>
      <vt:lpstr>Hochschulbibliothek</vt:lpstr>
      <vt:lpstr>Übersicht</vt:lpstr>
      <vt:lpstr>Problemstellung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ER-Modell</vt:lpstr>
      <vt:lpstr>Logischer Datenbankenentwurf  Personen:</vt:lpstr>
      <vt:lpstr>Mitglied:</vt:lpstr>
      <vt:lpstr>Adresse:</vt:lpstr>
      <vt:lpstr>Medium:</vt:lpstr>
      <vt:lpstr>Digitales_Medium:</vt:lpstr>
      <vt:lpstr>Regalfach:</vt:lpstr>
      <vt:lpstr>Ausleihe:</vt:lpstr>
      <vt:lpstr>Lieferung:</vt:lpstr>
      <vt:lpstr>Mahnung:</vt:lpstr>
      <vt:lpstr>SQL-Datenbank</vt:lpstr>
      <vt:lpstr>SQL-Datenbank</vt:lpstr>
      <vt:lpstr>SQL-Datenbank</vt:lpstr>
      <vt:lpstr>Abfragen</vt:lpstr>
      <vt:lpstr>Trigger</vt:lpstr>
      <vt:lpstr>Trigger</vt:lpstr>
      <vt:lpstr>Trigger</vt:lpstr>
      <vt:lpstr>Views</vt:lpstr>
      <vt:lpstr>Views</vt:lpstr>
      <vt:lpstr>Verbesserungsmöglichkeiten</vt:lpstr>
      <vt:lpstr>Fazit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Finja Rolke</dc:creator>
  <cp:lastModifiedBy>Finja Rolke</cp:lastModifiedBy>
  <cp:revision>11</cp:revision>
  <dcterms:created xsi:type="dcterms:W3CDTF">2026-06-10T10:10:10Z</dcterms:created>
  <dcterms:modified xsi:type="dcterms:W3CDTF">2026-06-17T10:04:24Z</dcterms:modified>
</cp:coreProperties>
</file>