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  <p:sldId id="266" r:id="rId9"/>
    <p:sldId id="267" r:id="rId10"/>
    <p:sldId id="260" r:id="rId11"/>
    <p:sldId id="261" r:id="rId12"/>
    <p:sldId id="262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>
        <p:scale>
          <a:sx n="81" d="100"/>
          <a:sy n="81" d="100"/>
        </p:scale>
        <p:origin x="486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B276D-0B6C-4441-8D54-6BA680AC8953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8EA45-FC5F-4659-A7BF-F45CEF0BCA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07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13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B112-C5C2-5578-8F45-B48EA3ED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3E9DA5-D5EF-5444-5D04-10D131A15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AEA5E53-B0CE-F467-2F13-743A022E1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C20424-5149-B7CF-4D51-E3C495517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4461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0717-79DC-BFFF-4246-47109E5F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653A53-05A3-0B4B-42AD-846B8632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EDBE1B1-B432-6D86-B532-DEE563F64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30C59B-B97D-4C93-C32C-D18282BB6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926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C62CB-5454-2EA8-BF11-9F111536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3F1FB4-B135-2343-BF37-761858623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AF605A-E14C-FCF8-8B5F-0E74F427E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807158-3888-51F8-D6A6-5230EC36B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37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345C-7D9D-227B-F5ED-BB5FAFC05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8FE76D-4366-7870-D359-325AF28BC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E716DA1-1361-35AF-845E-5B04AB2B8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3A498D-7843-BDE7-1853-75D2F7D2B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01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The image depicts a modern, well-lit, multi-level library with a clear layout, featuring an open staircase, contemporary furniture, and a focus on accessibility and organization.">
            <a:extLst>
              <a:ext uri="{FF2B5EF4-FFF2-40B4-BE49-F238E27FC236}">
                <a16:creationId xmlns:a16="http://schemas.microsoft.com/office/drawing/2014/main" id="{2AEDEBAD-6F16-A068-4105-0F834CD9962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2" r="1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Hochschulbibliothek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Von: Mia, Mouna und Finja </a:t>
            </a:r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EF4DB-DC5F-8A54-3DBF-65A73911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3BC8C-3FE9-65CE-7296-6B09E452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  <a:p>
            <a:r>
              <a:rPr lang="de-DE" dirty="0"/>
              <a:t>Use-Case Diagramm</a:t>
            </a:r>
          </a:p>
          <a:p>
            <a:r>
              <a:rPr lang="de-DE" dirty="0"/>
              <a:t>ER-Modell</a:t>
            </a:r>
          </a:p>
          <a:p>
            <a:r>
              <a:rPr lang="de-DE" dirty="0"/>
              <a:t>Logischer Datenbankenentwurf</a:t>
            </a:r>
          </a:p>
          <a:p>
            <a:r>
              <a:rPr lang="de-DE" dirty="0"/>
              <a:t>SQL-Datenbank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30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95E8-8BDA-528E-3BFF-F946C98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A9DB0B-F0F5-6AFD-87FC-5941932C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69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Die Fachhochschulbibliothek plant ein Online-Portal, über das Nutzer sich </a:t>
            </a:r>
            <a:r>
              <a:rPr lang="de-DE" dirty="0">
                <a:solidFill>
                  <a:srgbClr val="FF0000"/>
                </a:solidFill>
              </a:rPr>
              <a:t>registrieren</a:t>
            </a:r>
            <a:r>
              <a:rPr lang="de-DE" dirty="0"/>
              <a:t> und ein persönliches Profil anlegen können. Über dieses Portal können </a:t>
            </a:r>
            <a:r>
              <a:rPr lang="de-DE" dirty="0">
                <a:solidFill>
                  <a:srgbClr val="FF0000"/>
                </a:solidFill>
              </a:rPr>
              <a:t>Bücher und Zeitschriften ausgeliehen </a:t>
            </a:r>
            <a:r>
              <a:rPr lang="de-DE" dirty="0"/>
              <a:t>sowie deren aktuelle </a:t>
            </a:r>
            <a:r>
              <a:rPr lang="de-DE" dirty="0">
                <a:solidFill>
                  <a:srgbClr val="FF0000"/>
                </a:solidFill>
              </a:rPr>
              <a:t>Verfügbarkeit eingesehen </a:t>
            </a:r>
            <a:r>
              <a:rPr lang="de-DE" dirty="0"/>
              <a:t>werden. Außerdem besteht die Möglichkeit, </a:t>
            </a:r>
            <a:r>
              <a:rPr lang="de-DE" dirty="0">
                <a:solidFill>
                  <a:srgbClr val="FF0000"/>
                </a:solidFill>
              </a:rPr>
              <a:t>Reservierungen</a:t>
            </a:r>
            <a:r>
              <a:rPr lang="de-DE" dirty="0"/>
              <a:t> für nicht verfügbare Artikel vorzunehmen. </a:t>
            </a:r>
            <a:r>
              <a:rPr lang="de-DE" dirty="0">
                <a:solidFill>
                  <a:srgbClr val="FF0000"/>
                </a:solidFill>
              </a:rPr>
              <a:t>Digitale Medien </a:t>
            </a:r>
            <a:r>
              <a:rPr lang="de-DE" dirty="0"/>
              <a:t>können direkt über die Plattform </a:t>
            </a:r>
            <a:r>
              <a:rPr lang="de-DE" dirty="0">
                <a:solidFill>
                  <a:srgbClr val="FF0000"/>
                </a:solidFill>
              </a:rPr>
              <a:t>heruntergeladen</a:t>
            </a:r>
            <a:r>
              <a:rPr lang="de-DE" dirty="0"/>
              <a:t> werden.</a:t>
            </a:r>
          </a:p>
          <a:p>
            <a:pPr marL="0" indent="0">
              <a:buNone/>
            </a:pPr>
            <a:r>
              <a:rPr lang="de-DE" dirty="0"/>
              <a:t>Darüber hinaus soll eine </a:t>
            </a:r>
            <a:r>
              <a:rPr lang="de-DE" dirty="0">
                <a:solidFill>
                  <a:srgbClr val="FF0000"/>
                </a:solidFill>
              </a:rPr>
              <a:t>Heimlieferung</a:t>
            </a:r>
            <a:r>
              <a:rPr lang="de-DE" dirty="0"/>
              <a:t> angeboten werden. Bei persönlicher Abholung wird der genaue </a:t>
            </a:r>
            <a:r>
              <a:rPr lang="de-DE" dirty="0">
                <a:solidFill>
                  <a:srgbClr val="FF0000"/>
                </a:solidFill>
              </a:rPr>
              <a:t>Regalstandort</a:t>
            </a:r>
            <a:r>
              <a:rPr lang="de-DE" dirty="0"/>
              <a:t> des Artikels angezeigt. Das Portal übernimmt außerdem die Verwaltung von </a:t>
            </a:r>
            <a:r>
              <a:rPr lang="de-DE" dirty="0">
                <a:solidFill>
                  <a:srgbClr val="FF0000"/>
                </a:solidFill>
              </a:rPr>
              <a:t>Leihdauer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Mahnungsgebühren</a:t>
            </a:r>
            <a:r>
              <a:rPr lang="de-DE" dirty="0"/>
              <a:t>. </a:t>
            </a:r>
            <a:r>
              <a:rPr lang="de-DE" dirty="0">
                <a:solidFill>
                  <a:srgbClr val="FF0000"/>
                </a:solidFill>
              </a:rPr>
              <a:t>Bestellung</a:t>
            </a:r>
            <a:r>
              <a:rPr lang="de-DE" dirty="0"/>
              <a:t>, </a:t>
            </a:r>
            <a:r>
              <a:rPr lang="de-DE" dirty="0">
                <a:solidFill>
                  <a:srgbClr val="FF0000"/>
                </a:solidFill>
              </a:rPr>
              <a:t>Sendungsverfolgung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Rechnungsstellung</a:t>
            </a:r>
            <a:r>
              <a:rPr lang="de-DE" dirty="0"/>
              <a:t> werden ebenfalls angeboten.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814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FF92828-3B8D-3E77-E9D9-79326EF30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6BB573B1-6ED2-1559-D9E3-D7F1A28064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05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A40D-19A5-D8DD-683E-0D36B974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58FB199E-BDBF-554E-780B-A8F5221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F86EB5EB-302C-A137-426D-E994D15B3C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2208973" y="-166914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959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74F6-9C26-5B13-39F0-B82140CF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896FA19-8749-5624-E7A5-08CF39D4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32926976-291F-2867-C8BC-D9676B4C42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5155373" y="-6816660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365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163C-17F3-F226-3B7A-05CD4C81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46C388-C250-B32A-191C-38364B46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76889E32-8C45-A88E-D3E2-B946E76F9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7303488" y="-665700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85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28364-D26D-4073-CFD6-5EBBE1FE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0CACEDA-2C35-5F1D-3657-6293468E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3BA65-497D-7F7C-2D10-295C92AB4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65168C1B-7BFC-4DCB-902F-E8048403D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513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F8A6-E39E-56CF-4BBA-FCF33ABD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5480E9F-4CDA-DDBF-3261-FAEF92481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79DBDF-78A5-74FC-DF1B-9BFE7F62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CA2DCC2B-CDA0-327D-682A-426EC80859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8748683" y="-1582057"/>
            <a:ext cx="20751998" cy="130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8198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B6FAE-8EFD-732A-B884-CC2BFCE3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ER-Modell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D2403A4-EB58-D608-A62E-0208F7D5C1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4672" y="171450"/>
            <a:ext cx="7172903" cy="100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18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F007A-CDD3-0B03-2018-5B50FCE4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Logischer Datenbankenentwurf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85E2FD-6D86-6F17-972C-B3DBA1BB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7456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216E1-F291-DBE4-2223-D0512FDF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616802-8963-F5B0-CFC7-5C7E4AD7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1220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</Words>
  <Application>Microsoft Office PowerPoint</Application>
  <PresentationFormat>Breitbild</PresentationFormat>
  <Paragraphs>19</Paragraphs>
  <Slides>12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Hochschulbibliothek</vt:lpstr>
      <vt:lpstr>Übersicht</vt:lpstr>
      <vt:lpstr>Problemstellung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ER-Modell</vt:lpstr>
      <vt:lpstr>Logischer Datenbankenentwurf</vt:lpstr>
      <vt:lpstr>SQL-Datenbank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3</cp:revision>
  <dcterms:created xsi:type="dcterms:W3CDTF">2026-06-10T10:10:10Z</dcterms:created>
  <dcterms:modified xsi:type="dcterms:W3CDTF">2026-06-12T13:28:40Z</dcterms:modified>
</cp:coreProperties>
</file>