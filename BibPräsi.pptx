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0" r:id="rId11"/>
    <p:sldId id="261" r:id="rId12"/>
    <p:sldId id="270" r:id="rId13"/>
    <p:sldId id="271" r:id="rId14"/>
    <p:sldId id="272" r:id="rId15"/>
    <p:sldId id="262" r:id="rId16"/>
    <p:sldId id="273" r:id="rId17"/>
    <p:sldId id="275" r:id="rId18"/>
    <p:sldId id="268" r:id="rId19"/>
    <p:sldId id="269" r:id="rId20"/>
    <p:sldId id="274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CF3ACC40-1163-4A6C-A82C-1E1D84D424A7}">
          <p14:sldIdLst>
            <p14:sldId id="256"/>
          </p14:sldIdLst>
        </p14:section>
        <p14:section name="Mouna" id="{D23AACBD-D1EF-42DE-9590-C0A8AC384857}">
          <p14:sldIdLst>
            <p14:sldId id="257"/>
            <p14:sldId id="258"/>
            <p14:sldId id="259"/>
            <p14:sldId id="263"/>
            <p14:sldId id="264"/>
            <p14:sldId id="265"/>
            <p14:sldId id="266"/>
            <p14:sldId id="267"/>
          </p14:sldIdLst>
        </p14:section>
        <p14:section name="Mia" id="{04D14486-FA9D-4BB9-B280-97EF10716047}">
          <p14:sldIdLst>
            <p14:sldId id="260"/>
            <p14:sldId id="261"/>
          </p14:sldIdLst>
        </p14:section>
        <p14:section name="Finja" id="{A6477248-0C57-4DD1-B721-E15CF765ABA0}">
          <p14:sldIdLst>
            <p14:sldId id="270"/>
            <p14:sldId id="271"/>
            <p14:sldId id="272"/>
            <p14:sldId id="262"/>
            <p14:sldId id="273"/>
            <p14:sldId id="275"/>
            <p14:sldId id="268"/>
            <p14:sldId id="269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>
        <p:scale>
          <a:sx n="86" d="100"/>
          <a:sy n="86" d="100"/>
        </p:scale>
        <p:origin x="288" y="-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B276D-0B6C-4441-8D54-6BA680AC8953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8EA45-FC5F-4659-A7BF-F45CEF0BCA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07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8EA45-FC5F-4659-A7BF-F45CEF0BCAC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3130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2B112-C5C2-5578-8F45-B48EA3ED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3E9DA5-D5EF-5444-5D04-10D131A15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AEA5E53-B0CE-F467-2F13-743A022E1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C20424-5149-B7CF-4D51-E3C495517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8EA45-FC5F-4659-A7BF-F45CEF0BCAC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4461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20717-79DC-BFFF-4246-47109E5F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653A53-05A3-0B4B-42AD-846B8632A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EDBE1B1-B432-6D86-B532-DEE563F64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30C59B-B97D-4C93-C32C-D18282BB6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8EA45-FC5F-4659-A7BF-F45CEF0BCAC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9926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C62CB-5454-2EA8-BF11-9F1115363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3F1FB4-B135-2343-BF37-761858623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AF605A-E14C-FCF8-8B5F-0E74F427E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5807158-3888-51F8-D6A6-5230EC36B7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8EA45-FC5F-4659-A7BF-F45CEF0BCAC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374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345C-7D9D-227B-F5ED-BB5FAFC0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88FE76D-4366-7870-D359-325AF28BC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E716DA1-1361-35AF-845E-5B04AB2B8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3A498D-7843-BDE7-1853-75D2F7D2B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8EA45-FC5F-4659-A7BF-F45CEF0BCAC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301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6C931E-028C-9CEF-17A0-619DB6C89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2E753F-3917-E338-8E44-69E585880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D2C064-DAB5-B00B-562A-B294977D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FCF990-BBE2-EEEA-1727-FF0E7DD7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D46F89-9260-E973-A71E-D53064C4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70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8642B-A63B-DC03-D075-5DCF112D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4A9CA0-6387-7E0C-CC21-2BD875943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2C1461-05C1-2AA2-7F1F-40A257BF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107B0D-ABF4-8A71-9B71-9054660F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BF5304-5F38-85E8-A942-B58F1180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33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D18BA2-C2CA-4AA5-6B5A-FFF0871D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76EA03-617B-69E7-8034-12E1CE2C0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253A53-0996-C105-0E90-44E3D44D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2FF8F7-744B-8C82-D5AB-3A4A51E4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9610C7-AD29-A4B0-D40C-A50FC08A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3835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1B96B-A2ED-15BC-7215-E4744593E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4404AF-5F13-DF33-F65A-E0535B6F0E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668E33-0911-BE89-3F1C-06BAA03F0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567568-316D-BB0F-0581-BCDA41D5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A6C46A-C7C4-7F02-2807-7DD432E4F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397DE3-30F8-E5C2-FD16-2021734C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745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2412B-741E-AE2D-5CAC-8CA3A879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9A6BF9-95DA-CDD7-F26B-61A12092E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8D9EC7-9FA3-BB39-BFE6-AF43B440D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28BA35-296B-909D-3DB2-7949FDAFF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26CB602-6639-FAFE-80D9-76B9DF854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B6D82B-8CD7-C8FB-F249-5C9AE2E2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AB29ECE-1AF9-71F6-F5E1-7718159AE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158E46-B1DB-3859-C1B7-4EBB86F3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9509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4A6DD-7975-43CF-68EB-762E44C7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0430A0D-E097-0575-AAE8-E379F13A1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C6340F-9A7E-6D7B-E9CC-B6648805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64E79C-2645-4FAB-901D-DB821CCF4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559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227A33-7BF8-BD86-AC8E-F8C9EBB3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7FB31A-E2C1-CB3E-E108-B29C3DD7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0FCF67-1FA5-7043-ECAC-EBA239C9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589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27A30-1506-B95A-216A-C6825EE4A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BD57A-091A-2501-1A0B-11C767A46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2813613-97EF-FE77-F176-C85064EDE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A9BF9A-07D5-2CE9-B9B2-7085FD5F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2CC486-5FEC-53B3-AE5B-79C744FF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AE5DF6-6447-B88F-3FE9-B65AAC5B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2734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D138E-BAD5-FE3A-EFDA-D9F14F51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696E7DE-D03A-7001-AE55-26E8ED8CE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B0A215-CCBE-028C-DC3F-E21DA95C9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8385EF-6F4E-5BA1-BC84-608B82C9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52F85E-4EE4-FA5D-B980-E37B3491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51B801-4136-9F0C-8DF9-8F847A2B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900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AAB9EF-D1B4-B45F-B456-1E23A4D4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7B88632-A9A2-FC03-021A-96A619F29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D24172-FD23-51D4-02F8-B4C6EA35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E099FC-2C3A-58CA-22CE-B1C381782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133BBF-ED63-AB94-32B4-DEACD2020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137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269DCF-9330-9624-5CF7-45DBB913F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CF7E28-1520-B056-D752-33FA33B7B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56D836-A86A-66C6-8BDF-4FE1C1393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FCC4AC-6C55-4E25-6ECF-40CD02FA7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104DCA-D442-C4C8-2FDB-6FD65DC4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7245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676298-48B4-5981-DF2A-6703C91BC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137636-5918-70F4-A8E0-36175F1FB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A2191C-3E8E-58D9-69F4-694EB24D1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87675-1CDB-48C0-9C87-57F4E3A33078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2949BB-C832-3670-406A-D95999B20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170E5E-7C43-F02D-91DD-BDA4F1BE0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B3C91-9BE6-487E-BD26-06CC957ECE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711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The image depicts a modern, well-lit, multi-level library with a clear layout, featuring an open staircase, contemporary furniture, and a focus on accessibility and organization.">
            <a:extLst>
              <a:ext uri="{FF2B5EF4-FFF2-40B4-BE49-F238E27FC236}">
                <a16:creationId xmlns:a16="http://schemas.microsoft.com/office/drawing/2014/main" id="{2AEDEBAD-6F16-A068-4105-0F834CD996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2" r="1" b="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3CB01A6-54F3-9690-39B8-DF10AD4BC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Hochschulbibliothek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B032A1B-B9EA-1151-4689-34CDAE5DB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Von: Mia, Mouna und Finja </a:t>
            </a:r>
          </a:p>
        </p:txBody>
      </p:sp>
    </p:spTree>
    <p:extLst>
      <p:ext uri="{BB962C8B-B14F-4D97-AF65-F5344CB8AC3E}">
        <p14:creationId xmlns:p14="http://schemas.microsoft.com/office/powerpoint/2010/main" val="4138183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EF4DB-DC5F-8A54-3DBF-65A73911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D3BC8C-3FE9-65CE-7296-6B09E4524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Problemstellung</a:t>
            </a:r>
          </a:p>
          <a:p>
            <a:r>
              <a:rPr lang="de-DE" dirty="0"/>
              <a:t>Use-Case Diagramm</a:t>
            </a:r>
          </a:p>
          <a:p>
            <a:r>
              <a:rPr lang="de-DE" dirty="0"/>
              <a:t>ER-Modell</a:t>
            </a:r>
          </a:p>
          <a:p>
            <a:r>
              <a:rPr lang="de-DE" dirty="0"/>
              <a:t>Logischer Datenbankenentwurf</a:t>
            </a:r>
          </a:p>
          <a:p>
            <a:r>
              <a:rPr lang="de-DE" dirty="0"/>
              <a:t>SQL-Datenbank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030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F95E8-8BDA-528E-3BFF-F946C98C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A9DB0B-F0F5-6AFD-87FC-5941932C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9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dirty="0"/>
              <a:t>Die Fachhochschulbibliothek plant ein Online-Portal, über das Nutzer sich </a:t>
            </a:r>
            <a:r>
              <a:rPr lang="de-DE" dirty="0">
                <a:solidFill>
                  <a:srgbClr val="FF0000"/>
                </a:solidFill>
              </a:rPr>
              <a:t>registrieren</a:t>
            </a:r>
            <a:r>
              <a:rPr lang="de-DE" dirty="0"/>
              <a:t> und ein persönliches Profil anlegen können. Über dieses Portal können </a:t>
            </a:r>
            <a:r>
              <a:rPr lang="de-DE" dirty="0">
                <a:solidFill>
                  <a:srgbClr val="FF0000"/>
                </a:solidFill>
              </a:rPr>
              <a:t>Bücher und Zeitschriften ausgeliehen </a:t>
            </a:r>
            <a:r>
              <a:rPr lang="de-DE" dirty="0"/>
              <a:t>sowie deren aktuelle </a:t>
            </a:r>
            <a:r>
              <a:rPr lang="de-DE" dirty="0">
                <a:solidFill>
                  <a:srgbClr val="FF0000"/>
                </a:solidFill>
              </a:rPr>
              <a:t>Verfügbarkeit eingesehen </a:t>
            </a:r>
            <a:r>
              <a:rPr lang="de-DE" dirty="0"/>
              <a:t>werden. Außerdem besteht die Möglichkeit, </a:t>
            </a:r>
            <a:r>
              <a:rPr lang="de-DE" dirty="0">
                <a:solidFill>
                  <a:srgbClr val="FF0000"/>
                </a:solidFill>
              </a:rPr>
              <a:t>Reservierungen</a:t>
            </a:r>
            <a:r>
              <a:rPr lang="de-DE" dirty="0"/>
              <a:t> für nicht verfügbare Artikel vorzunehmen. </a:t>
            </a:r>
            <a:r>
              <a:rPr lang="de-DE" dirty="0">
                <a:solidFill>
                  <a:srgbClr val="FF0000"/>
                </a:solidFill>
              </a:rPr>
              <a:t>Digitale Medien </a:t>
            </a:r>
            <a:r>
              <a:rPr lang="de-DE" dirty="0"/>
              <a:t>können direkt über die Plattform </a:t>
            </a:r>
            <a:r>
              <a:rPr lang="de-DE" dirty="0">
                <a:solidFill>
                  <a:srgbClr val="FF0000"/>
                </a:solidFill>
              </a:rPr>
              <a:t>heruntergeladen</a:t>
            </a:r>
            <a:r>
              <a:rPr lang="de-DE" dirty="0"/>
              <a:t> werden.</a:t>
            </a:r>
          </a:p>
          <a:p>
            <a:pPr marL="0" indent="0">
              <a:buNone/>
            </a:pPr>
            <a:r>
              <a:rPr lang="de-DE" dirty="0"/>
              <a:t>Darüber hinaus soll eine </a:t>
            </a:r>
            <a:r>
              <a:rPr lang="de-DE" dirty="0">
                <a:solidFill>
                  <a:srgbClr val="FF0000"/>
                </a:solidFill>
              </a:rPr>
              <a:t>Heimlieferung</a:t>
            </a:r>
            <a:r>
              <a:rPr lang="de-DE" dirty="0"/>
              <a:t> angeboten werden. Bei persönlicher Abholung wird der genaue </a:t>
            </a:r>
            <a:r>
              <a:rPr lang="de-DE" dirty="0">
                <a:solidFill>
                  <a:srgbClr val="FF0000"/>
                </a:solidFill>
              </a:rPr>
              <a:t>Regalstandort</a:t>
            </a:r>
            <a:r>
              <a:rPr lang="de-DE" dirty="0"/>
              <a:t> des Artikels angezeigt. Das Portal übernimmt außerdem die Verwaltung von </a:t>
            </a:r>
            <a:r>
              <a:rPr lang="de-DE" dirty="0">
                <a:solidFill>
                  <a:srgbClr val="FF0000"/>
                </a:solidFill>
              </a:rPr>
              <a:t>Leihdauer</a:t>
            </a:r>
            <a:r>
              <a:rPr lang="de-DE" dirty="0"/>
              <a:t> und </a:t>
            </a:r>
            <a:r>
              <a:rPr lang="de-DE" dirty="0">
                <a:solidFill>
                  <a:srgbClr val="FF0000"/>
                </a:solidFill>
              </a:rPr>
              <a:t>Mahnungsgebühren</a:t>
            </a:r>
            <a:r>
              <a:rPr lang="de-DE" dirty="0"/>
              <a:t>. </a:t>
            </a:r>
            <a:r>
              <a:rPr lang="de-DE" dirty="0">
                <a:solidFill>
                  <a:srgbClr val="FF0000"/>
                </a:solidFill>
              </a:rPr>
              <a:t>Bestellung</a:t>
            </a:r>
            <a:r>
              <a:rPr lang="de-DE" dirty="0"/>
              <a:t>, </a:t>
            </a:r>
            <a:r>
              <a:rPr lang="de-DE" dirty="0">
                <a:solidFill>
                  <a:srgbClr val="FF0000"/>
                </a:solidFill>
              </a:rPr>
              <a:t>Sendungsverfolgung</a:t>
            </a:r>
            <a:r>
              <a:rPr lang="de-DE" dirty="0"/>
              <a:t> und </a:t>
            </a:r>
            <a:r>
              <a:rPr lang="de-DE" dirty="0">
                <a:solidFill>
                  <a:srgbClr val="FF0000"/>
                </a:solidFill>
              </a:rPr>
              <a:t>Rechnungsstellung</a:t>
            </a:r>
            <a:r>
              <a:rPr lang="de-DE" dirty="0"/>
              <a:t> werden ebenfalls angeboten. 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814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FF92828-3B8D-3E77-E9D9-79326EF3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6BB573B1-6ED2-1559-D9E3-D7F1A2806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5592"/>
          <a:stretch>
            <a:fillRect/>
          </a:stretch>
        </p:blipFill>
        <p:spPr>
          <a:xfrm>
            <a:off x="838200" y="95517"/>
            <a:ext cx="10601691" cy="666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0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BA40D-19A5-D8DD-683E-0D36B974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8FB199E-BDBF-554E-780B-A8F5221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F86EB5EB-302C-A137-426D-E994D15B3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592"/>
          <a:stretch>
            <a:fillRect/>
          </a:stretch>
        </p:blipFill>
        <p:spPr>
          <a:xfrm>
            <a:off x="-2208973" y="-1669143"/>
            <a:ext cx="21745201" cy="136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95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74F6-9C26-5B13-39F0-B82140CF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896FA19-8749-5624-E7A5-08CF39D4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32926976-291F-2867-C8BC-D9676B4C4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592"/>
          <a:stretch>
            <a:fillRect/>
          </a:stretch>
        </p:blipFill>
        <p:spPr>
          <a:xfrm>
            <a:off x="-5155373" y="-6816660"/>
            <a:ext cx="21745201" cy="136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36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163C-17F3-F226-3B7A-05CD4C81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746C388-C250-B32A-191C-38364B46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5" name="Inhaltsplatzhalter 14">
            <a:extLst>
              <a:ext uri="{FF2B5EF4-FFF2-40B4-BE49-F238E27FC236}">
                <a16:creationId xmlns:a16="http://schemas.microsoft.com/office/drawing/2014/main" id="{76889E32-8C45-A88E-D3E2-B946E76F9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592"/>
          <a:stretch>
            <a:fillRect/>
          </a:stretch>
        </p:blipFill>
        <p:spPr>
          <a:xfrm>
            <a:off x="-7303488" y="-6657003"/>
            <a:ext cx="21745201" cy="1367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38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28364-D26D-4073-CFD6-5EBBE1FE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0CACEDA-2C35-5F1D-3657-6293468E1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83BA65-497D-7F7C-2D10-295C92AB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Inhaltsplatzhalter 14">
            <a:extLst>
              <a:ext uri="{FF2B5EF4-FFF2-40B4-BE49-F238E27FC236}">
                <a16:creationId xmlns:a16="http://schemas.microsoft.com/office/drawing/2014/main" id="{65168C1B-7BFC-4DCB-902F-E8048403DF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592"/>
          <a:stretch>
            <a:fillRect/>
          </a:stretch>
        </p:blipFill>
        <p:spPr>
          <a:xfrm>
            <a:off x="838200" y="95517"/>
            <a:ext cx="10601691" cy="666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51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F8A6-E39E-56CF-4BBA-FCF33ABD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B5480E9F-4CDA-DDBF-3261-FAEF9248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79DBDF-78A5-74FC-DF1B-9BFE7F62D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Inhaltsplatzhalter 14">
            <a:extLst>
              <a:ext uri="{FF2B5EF4-FFF2-40B4-BE49-F238E27FC236}">
                <a16:creationId xmlns:a16="http://schemas.microsoft.com/office/drawing/2014/main" id="{CA2DCC2B-CDA0-327D-682A-426EC8085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592"/>
          <a:stretch>
            <a:fillRect/>
          </a:stretch>
        </p:blipFill>
        <p:spPr>
          <a:xfrm>
            <a:off x="-8748683" y="-1582057"/>
            <a:ext cx="20751998" cy="1305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19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BB6FAE-8EFD-732A-B884-CC2BFCE3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ER-Modell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A041451E-E2F1-81B5-D285-96AD5F8A3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639" r="52230" b="37649"/>
          <a:stretch>
            <a:fillRect/>
          </a:stretch>
        </p:blipFill>
        <p:spPr>
          <a:xfrm>
            <a:off x="3410667" y="241070"/>
            <a:ext cx="7687096" cy="66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1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F007A-CDD3-0B03-2018-5B50FCE4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Logischer Datenbankenentwurf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85E2FD-6D86-6F17-972C-B3DBA1BBD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7456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FE411-5EAD-4A87-F0FD-EA55E15BC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1152F5-7660-F4F5-D578-69465015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SQL-Datenbank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4CFCED-E2AC-C2E2-A3DC-4C79B81A5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dirty="0">
                <a:solidFill>
                  <a:srgbClr val="0070C0"/>
                </a:solidFill>
              </a:rPr>
              <a:t>CREATE TABLE </a:t>
            </a:r>
            <a:r>
              <a:rPr lang="de-DE" dirty="0"/>
              <a:t>`</a:t>
            </a:r>
            <a:r>
              <a:rPr lang="de-DE" dirty="0" err="1"/>
              <a:t>personen</a:t>
            </a:r>
            <a:r>
              <a:rPr lang="de-DE" dirty="0"/>
              <a:t>` (</a:t>
            </a:r>
          </a:p>
          <a:p>
            <a:pPr marL="0" indent="0">
              <a:buNone/>
            </a:pPr>
            <a:r>
              <a:rPr lang="de-DE" dirty="0"/>
              <a:t>    `</a:t>
            </a:r>
            <a:r>
              <a:rPr lang="de-DE" dirty="0" err="1"/>
              <a:t>PersonenID</a:t>
            </a:r>
            <a:r>
              <a:rPr lang="de-DE" dirty="0"/>
              <a:t>`  INT          NOT NULL,</a:t>
            </a:r>
          </a:p>
          <a:p>
            <a:pPr marL="0" indent="0">
              <a:buNone/>
            </a:pPr>
            <a:r>
              <a:rPr lang="de-DE" dirty="0"/>
              <a:t>    `Vorname`     VARCHAR(40),</a:t>
            </a:r>
          </a:p>
          <a:p>
            <a:pPr marL="0" indent="0">
              <a:buNone/>
            </a:pPr>
            <a:r>
              <a:rPr lang="de-DE" dirty="0"/>
              <a:t>    `Nachname`    VARCHAR(40),</a:t>
            </a:r>
          </a:p>
          <a:p>
            <a:pPr marL="0" indent="0">
              <a:buNone/>
            </a:pPr>
            <a:r>
              <a:rPr lang="de-DE" dirty="0"/>
              <a:t>    `Email`       VARCHAR(40),</a:t>
            </a:r>
          </a:p>
          <a:p>
            <a:pPr marL="0" indent="0">
              <a:buNone/>
            </a:pPr>
            <a:r>
              <a:rPr lang="de-DE" dirty="0"/>
              <a:t>    `Passwort`    VARCHAR(40),</a:t>
            </a:r>
          </a:p>
          <a:p>
            <a:pPr marL="0" indent="0">
              <a:buNone/>
            </a:pPr>
            <a:r>
              <a:rPr lang="de-DE" dirty="0"/>
              <a:t>    `</a:t>
            </a:r>
            <a:r>
              <a:rPr lang="de-DE" dirty="0" err="1"/>
              <a:t>AdressID</a:t>
            </a:r>
            <a:r>
              <a:rPr lang="de-DE" dirty="0"/>
              <a:t>`    INT          NULL,</a:t>
            </a:r>
          </a:p>
          <a:p>
            <a:pPr marL="0" indent="0">
              <a:buNone/>
            </a:pPr>
            <a:r>
              <a:rPr lang="de-DE" dirty="0"/>
              <a:t>    </a:t>
            </a:r>
            <a:r>
              <a:rPr lang="de-DE" dirty="0">
                <a:solidFill>
                  <a:srgbClr val="0070C0"/>
                </a:solidFill>
              </a:rPr>
              <a:t>PRIMARY KEY </a:t>
            </a:r>
            <a:r>
              <a:rPr lang="de-DE" dirty="0"/>
              <a:t>(`</a:t>
            </a:r>
            <a:r>
              <a:rPr lang="de-DE" dirty="0" err="1"/>
              <a:t>PersonenID</a:t>
            </a:r>
            <a:r>
              <a:rPr lang="de-DE" dirty="0"/>
              <a:t>`),</a:t>
            </a:r>
          </a:p>
          <a:p>
            <a:pPr marL="0" indent="0">
              <a:buNone/>
            </a:pPr>
            <a:r>
              <a:rPr lang="de-DE" dirty="0"/>
              <a:t>    </a:t>
            </a:r>
            <a:r>
              <a:rPr lang="de-DE" dirty="0">
                <a:solidFill>
                  <a:srgbClr val="0070C0"/>
                </a:solidFill>
              </a:rPr>
              <a:t>FOREIGN KEY </a:t>
            </a:r>
            <a:r>
              <a:rPr lang="de-DE" dirty="0"/>
              <a:t>(`</a:t>
            </a:r>
            <a:r>
              <a:rPr lang="de-DE" dirty="0" err="1"/>
              <a:t>AdressID</a:t>
            </a:r>
            <a:r>
              <a:rPr lang="de-DE" dirty="0"/>
              <a:t>`) </a:t>
            </a:r>
            <a:r>
              <a:rPr lang="de-DE" dirty="0">
                <a:solidFill>
                  <a:srgbClr val="0070C0"/>
                </a:solidFill>
              </a:rPr>
              <a:t>REFERENCES</a:t>
            </a:r>
            <a:r>
              <a:rPr lang="de-DE" dirty="0"/>
              <a:t> `</a:t>
            </a:r>
            <a:r>
              <a:rPr lang="de-DE" dirty="0" err="1"/>
              <a:t>adresse</a:t>
            </a:r>
            <a:r>
              <a:rPr lang="de-DE" dirty="0"/>
              <a:t>` (`</a:t>
            </a:r>
            <a:r>
              <a:rPr lang="de-DE" dirty="0" err="1"/>
              <a:t>AdressID</a:t>
            </a:r>
            <a:r>
              <a:rPr lang="de-DE" dirty="0"/>
              <a:t>`)</a:t>
            </a:r>
          </a:p>
          <a:p>
            <a:pPr marL="0" indent="0">
              <a:buNone/>
            </a:pPr>
            <a:r>
              <a:rPr lang="de-DE" dirty="0"/>
              <a:t>        </a:t>
            </a:r>
            <a:r>
              <a:rPr lang="de-DE" dirty="0">
                <a:solidFill>
                  <a:srgbClr val="0070C0"/>
                </a:solidFill>
              </a:rPr>
              <a:t>ON DELETE CASCADE</a:t>
            </a:r>
            <a:r>
              <a:rPr lang="de-DE" dirty="0"/>
              <a:t>);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9039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BB7D-A326-EFB2-AFC7-DC3731DF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674AB-5C57-CB25-9251-CE20ABA7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SQL-Datenbank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DAF0C4-1E07-E280-577C-CE919B2C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45" y="1825625"/>
            <a:ext cx="1153064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rgbClr val="0070C0"/>
                </a:solidFill>
              </a:rPr>
              <a:t>CREATE TABLE </a:t>
            </a:r>
            <a:r>
              <a:rPr lang="de-DE" dirty="0"/>
              <a:t>`</a:t>
            </a:r>
            <a:r>
              <a:rPr lang="de-DE" dirty="0" err="1"/>
              <a:t>mitglied</a:t>
            </a:r>
            <a:r>
              <a:rPr lang="de-DE" dirty="0"/>
              <a:t>` (</a:t>
            </a:r>
          </a:p>
          <a:p>
            <a:pPr marL="0" indent="0">
              <a:buNone/>
            </a:pPr>
            <a:r>
              <a:rPr lang="de-DE" dirty="0"/>
              <a:t>    `</a:t>
            </a:r>
            <a:r>
              <a:rPr lang="de-DE" dirty="0" err="1"/>
              <a:t>PersonenID</a:t>
            </a:r>
            <a:r>
              <a:rPr lang="de-DE" dirty="0"/>
              <a:t>`          INT        NOT NULL,</a:t>
            </a:r>
          </a:p>
          <a:p>
            <a:pPr marL="0" indent="0">
              <a:buNone/>
            </a:pPr>
            <a:r>
              <a:rPr lang="de-DE" dirty="0"/>
              <a:t>    `Registrierungsdatum` DATE,</a:t>
            </a:r>
          </a:p>
          <a:p>
            <a:pPr marL="0" indent="0">
              <a:buNone/>
            </a:pPr>
            <a:r>
              <a:rPr lang="de-DE" dirty="0"/>
              <a:t>    `Ausleiherlaubnis`    TINYINT(1) NOT NULL,</a:t>
            </a:r>
          </a:p>
          <a:p>
            <a:pPr marL="0" indent="0">
              <a:buNone/>
            </a:pPr>
            <a:r>
              <a:rPr lang="de-DE" dirty="0"/>
              <a:t>    </a:t>
            </a:r>
            <a:r>
              <a:rPr lang="de-DE" dirty="0">
                <a:solidFill>
                  <a:srgbClr val="0070C0"/>
                </a:solidFill>
              </a:rPr>
              <a:t>PRIMARY KEY </a:t>
            </a:r>
            <a:r>
              <a:rPr lang="de-DE" dirty="0"/>
              <a:t>(`</a:t>
            </a:r>
            <a:r>
              <a:rPr lang="de-DE" dirty="0" err="1"/>
              <a:t>PersonenID</a:t>
            </a:r>
            <a:r>
              <a:rPr lang="de-DE" dirty="0"/>
              <a:t>`),</a:t>
            </a:r>
          </a:p>
          <a:p>
            <a:pPr marL="0" indent="0">
              <a:buNone/>
            </a:pPr>
            <a:r>
              <a:rPr lang="de-DE" dirty="0"/>
              <a:t>    </a:t>
            </a:r>
            <a:r>
              <a:rPr lang="de-DE" dirty="0">
                <a:solidFill>
                  <a:srgbClr val="0070C0"/>
                </a:solidFill>
              </a:rPr>
              <a:t>FOREIGN KEY </a:t>
            </a:r>
            <a:r>
              <a:rPr lang="de-DE" dirty="0"/>
              <a:t>(`</a:t>
            </a:r>
            <a:r>
              <a:rPr lang="de-DE" dirty="0" err="1"/>
              <a:t>PersonenID</a:t>
            </a:r>
            <a:r>
              <a:rPr lang="de-DE" dirty="0"/>
              <a:t>`) </a:t>
            </a:r>
            <a:r>
              <a:rPr lang="de-DE" dirty="0">
                <a:solidFill>
                  <a:srgbClr val="0070C0"/>
                </a:solidFill>
              </a:rPr>
              <a:t>REFERENCES</a:t>
            </a:r>
            <a:r>
              <a:rPr lang="de-DE" dirty="0"/>
              <a:t> `</a:t>
            </a:r>
            <a:r>
              <a:rPr lang="de-DE" dirty="0" err="1"/>
              <a:t>personen</a:t>
            </a:r>
            <a:r>
              <a:rPr lang="de-DE" dirty="0"/>
              <a:t>`(`</a:t>
            </a:r>
            <a:r>
              <a:rPr lang="de-DE" dirty="0" err="1"/>
              <a:t>PersonenID</a:t>
            </a:r>
            <a:r>
              <a:rPr lang="de-DE" dirty="0"/>
              <a:t>`)</a:t>
            </a:r>
          </a:p>
          <a:p>
            <a:pPr marL="0" indent="0">
              <a:buNone/>
            </a:pPr>
            <a:r>
              <a:rPr lang="de-DE" dirty="0"/>
              <a:t>        </a:t>
            </a:r>
            <a:r>
              <a:rPr lang="de-DE" dirty="0">
                <a:solidFill>
                  <a:srgbClr val="0070C0"/>
                </a:solidFill>
              </a:rPr>
              <a:t>ON DELETE CASCADE</a:t>
            </a:r>
            <a:r>
              <a:rPr lang="de-DE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60037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B7BE-4784-014D-7426-824F2CB29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BD4F6-FBD5-23AE-D237-08C0B7BE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SQL-Datenbank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A576C3-AF0F-8D69-7BF2-8853DC986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3" y="1825625"/>
            <a:ext cx="128993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rgbClr val="0070C0"/>
                </a:solidFill>
              </a:rPr>
              <a:t>CREATE TABLE </a:t>
            </a:r>
            <a:r>
              <a:rPr lang="de-DE" dirty="0"/>
              <a:t>`</a:t>
            </a:r>
            <a:r>
              <a:rPr lang="de-DE" dirty="0" err="1"/>
              <a:t>mitarbeiter</a:t>
            </a:r>
            <a:r>
              <a:rPr lang="de-DE" dirty="0"/>
              <a:t>` (</a:t>
            </a:r>
          </a:p>
          <a:p>
            <a:pPr marL="0" indent="0">
              <a:buNone/>
            </a:pPr>
            <a:r>
              <a:rPr lang="de-DE" dirty="0"/>
              <a:t>    `</a:t>
            </a:r>
            <a:r>
              <a:rPr lang="de-DE" dirty="0" err="1"/>
              <a:t>PersonenID</a:t>
            </a:r>
            <a:r>
              <a:rPr lang="de-DE" dirty="0"/>
              <a:t>`  INT         NOT NULL,</a:t>
            </a:r>
          </a:p>
          <a:p>
            <a:pPr marL="0" indent="0">
              <a:buNone/>
            </a:pPr>
            <a:r>
              <a:rPr lang="de-DE" dirty="0"/>
              <a:t>    `Position`    VARCHAR(40),</a:t>
            </a:r>
          </a:p>
          <a:p>
            <a:pPr marL="0" indent="0">
              <a:buNone/>
            </a:pPr>
            <a:r>
              <a:rPr lang="de-DE" dirty="0"/>
              <a:t>    </a:t>
            </a:r>
            <a:r>
              <a:rPr lang="de-DE" dirty="0">
                <a:solidFill>
                  <a:srgbClr val="0070C0"/>
                </a:solidFill>
              </a:rPr>
              <a:t>PRIMARY KEY </a:t>
            </a:r>
            <a:r>
              <a:rPr lang="de-DE" dirty="0"/>
              <a:t>(`</a:t>
            </a:r>
            <a:r>
              <a:rPr lang="de-DE" dirty="0" err="1"/>
              <a:t>PersonenID</a:t>
            </a:r>
            <a:r>
              <a:rPr lang="de-DE" dirty="0"/>
              <a:t>`),</a:t>
            </a:r>
          </a:p>
          <a:p>
            <a:pPr marL="0" indent="0">
              <a:buNone/>
            </a:pPr>
            <a:r>
              <a:rPr lang="de-DE" dirty="0">
                <a:solidFill>
                  <a:srgbClr val="0070C0"/>
                </a:solidFill>
              </a:rPr>
              <a:t>    FOREIGN KEY </a:t>
            </a:r>
            <a:r>
              <a:rPr lang="de-DE" dirty="0"/>
              <a:t>(`</a:t>
            </a:r>
            <a:r>
              <a:rPr lang="de-DE" dirty="0" err="1"/>
              <a:t>PersonenID</a:t>
            </a:r>
            <a:r>
              <a:rPr lang="de-DE" dirty="0"/>
              <a:t>`) </a:t>
            </a:r>
            <a:r>
              <a:rPr lang="de-DE" dirty="0">
                <a:solidFill>
                  <a:srgbClr val="0070C0"/>
                </a:solidFill>
              </a:rPr>
              <a:t>REFERENCES</a:t>
            </a:r>
            <a:r>
              <a:rPr lang="de-DE" dirty="0"/>
              <a:t> `</a:t>
            </a:r>
            <a:r>
              <a:rPr lang="de-DE" dirty="0" err="1"/>
              <a:t>personen</a:t>
            </a:r>
            <a:r>
              <a:rPr lang="de-DE" dirty="0"/>
              <a:t>` (`</a:t>
            </a:r>
            <a:r>
              <a:rPr lang="de-DE" dirty="0" err="1"/>
              <a:t>PersonenID</a:t>
            </a:r>
            <a:r>
              <a:rPr lang="de-DE" dirty="0"/>
              <a:t>`)</a:t>
            </a:r>
          </a:p>
          <a:p>
            <a:pPr marL="0" indent="0">
              <a:buNone/>
            </a:pPr>
            <a:r>
              <a:rPr lang="de-DE" dirty="0"/>
              <a:t>        </a:t>
            </a:r>
            <a:r>
              <a:rPr lang="de-DE" dirty="0">
                <a:solidFill>
                  <a:srgbClr val="0070C0"/>
                </a:solidFill>
              </a:rPr>
              <a:t>ON DELETE CASCADE</a:t>
            </a:r>
            <a:r>
              <a:rPr lang="de-DE" dirty="0"/>
              <a:t>);</a:t>
            </a:r>
            <a:endParaRPr lang="de-D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93226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6216E1-F291-DBE4-2223-D0512FDF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Abfragen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97609C7-BEBB-CBD2-54D7-9EC9DD148091}"/>
              </a:ext>
            </a:extLst>
          </p:cNvPr>
          <p:cNvSpPr txBox="1"/>
          <p:nvPr/>
        </p:nvSpPr>
        <p:spPr>
          <a:xfrm>
            <a:off x="908648" y="1496054"/>
            <a:ext cx="76947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SELECT MONTH(</a:t>
            </a:r>
            <a:r>
              <a:rPr lang="de-DE" dirty="0" err="1"/>
              <a:t>Ausleihedatum</a:t>
            </a:r>
            <a:r>
              <a:rPr lang="de-DE" dirty="0"/>
              <a:t>) AS Monat, COUNT(*) AS Ausleihen,</a:t>
            </a:r>
          </a:p>
          <a:p>
            <a:r>
              <a:rPr lang="de-DE" dirty="0"/>
              <a:t>           SUM(CASE WHEN Status = 0 THEN 1 ELSE 0 END) AS </a:t>
            </a:r>
            <a:r>
              <a:rPr lang="de-DE" dirty="0" err="1"/>
              <a:t>NochOffen</a:t>
            </a:r>
            <a:r>
              <a:rPr lang="de-DE" dirty="0"/>
              <a:t>,</a:t>
            </a:r>
          </a:p>
          <a:p>
            <a:r>
              <a:rPr lang="de-DE" dirty="0"/>
              <a:t>           SUM(CASE WHEN Status = 1 THEN 1 ELSE 0 END) AS Zurückgegeben</a:t>
            </a:r>
          </a:p>
          <a:p>
            <a:r>
              <a:rPr lang="de-DE" dirty="0"/>
              <a:t>    FROM ausleihe</a:t>
            </a:r>
          </a:p>
          <a:p>
            <a:r>
              <a:rPr lang="de-DE" dirty="0"/>
              <a:t>    WHERE YEAR(</a:t>
            </a:r>
            <a:r>
              <a:rPr lang="de-DE" dirty="0" err="1"/>
              <a:t>Ausleihedatum</a:t>
            </a:r>
            <a:r>
              <a:rPr lang="de-DE" dirty="0"/>
              <a:t>) = 2026</a:t>
            </a:r>
          </a:p>
          <a:p>
            <a:r>
              <a:rPr lang="de-DE" dirty="0"/>
              <a:t>    GROUP BY MONTH(</a:t>
            </a:r>
            <a:r>
              <a:rPr lang="de-DE" dirty="0" err="1"/>
              <a:t>Ausleihedatum</a:t>
            </a:r>
            <a:r>
              <a:rPr lang="de-DE" dirty="0"/>
              <a:t>)</a:t>
            </a:r>
          </a:p>
          <a:p>
            <a:r>
              <a:rPr lang="de-DE" dirty="0"/>
              <a:t>    ORDER BY Monat</a:t>
            </a:r>
          </a:p>
        </p:txBody>
      </p:sp>
      <p:pic>
        <p:nvPicPr>
          <p:cNvPr id="7" name="Grafik 6" descr="The image shows a bar chart illustrating the number of books borrowed per month in 2026, with a peak in January and a steady decline towards February.&#10;&#10;KI-generierte Inhalte können fehlerhaft sein.">
            <a:extLst>
              <a:ext uri="{FF2B5EF4-FFF2-40B4-BE49-F238E27FC236}">
                <a16:creationId xmlns:a16="http://schemas.microsoft.com/office/drawing/2014/main" id="{A709D323-B4BF-D649-3F5E-4D101FC96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325" y="2463743"/>
            <a:ext cx="5852172" cy="4389129"/>
          </a:xfrm>
          <a:prstGeom prst="rect">
            <a:avLst/>
          </a:prstGeom>
        </p:spPr>
      </p:pic>
      <p:pic>
        <p:nvPicPr>
          <p:cNvPr id="9" name="Grafik 8" descr="Noch&#10;&#10;KI-generierte Inhalte können fehlerhaft sein.">
            <a:extLst>
              <a:ext uri="{FF2B5EF4-FFF2-40B4-BE49-F238E27FC236}">
                <a16:creationId xmlns:a16="http://schemas.microsoft.com/office/drawing/2014/main" id="{352C5446-FB60-E5E0-0520-652158333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20" y="3832548"/>
            <a:ext cx="4786998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20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B9A02-3588-299C-B1D2-60A8CC3C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8D29D2-1F8D-BB8C-C237-A348AA9B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Trigger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DCAB8BE-3EEB-7EDB-E30D-5AFC99392313}"/>
              </a:ext>
            </a:extLst>
          </p:cNvPr>
          <p:cNvSpPr txBox="1"/>
          <p:nvPr/>
        </p:nvSpPr>
        <p:spPr>
          <a:xfrm>
            <a:off x="931024" y="2050473"/>
            <a:ext cx="81021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Beispiel:</a:t>
            </a:r>
          </a:p>
          <a:p>
            <a:r>
              <a:rPr lang="de-DE" dirty="0">
                <a:solidFill>
                  <a:srgbClr val="0070C0"/>
                </a:solidFill>
              </a:rPr>
              <a:t>CREATE TRIGGER </a:t>
            </a:r>
            <a:r>
              <a:rPr lang="de-DE" dirty="0" err="1"/>
              <a:t>trg_ausleihe_insert</a:t>
            </a:r>
            <a:r>
              <a:rPr lang="de-DE" dirty="0"/>
              <a:t> </a:t>
            </a:r>
          </a:p>
          <a:p>
            <a:r>
              <a:rPr lang="de-DE" dirty="0">
                <a:solidFill>
                  <a:srgbClr val="0070C0"/>
                </a:solidFill>
              </a:rPr>
              <a:t>AFTER INSERT ON </a:t>
            </a:r>
            <a:r>
              <a:rPr lang="de-DE" dirty="0"/>
              <a:t>ausleihe </a:t>
            </a:r>
            <a:r>
              <a:rPr lang="de-DE" dirty="0">
                <a:solidFill>
                  <a:srgbClr val="0070C0"/>
                </a:solidFill>
              </a:rPr>
              <a:t>FOR EACH ROW </a:t>
            </a:r>
          </a:p>
          <a:p>
            <a:r>
              <a:rPr lang="de-DE" dirty="0">
                <a:solidFill>
                  <a:srgbClr val="0070C0"/>
                </a:solidFill>
              </a:rPr>
              <a:t>IF</a:t>
            </a:r>
            <a:r>
              <a:rPr lang="de-DE" dirty="0"/>
              <a:t> </a:t>
            </a:r>
            <a:r>
              <a:rPr lang="de-DE" dirty="0" err="1"/>
              <a:t>NEW.Status</a:t>
            </a:r>
            <a:r>
              <a:rPr lang="de-DE" dirty="0"/>
              <a:t> = 0 </a:t>
            </a:r>
            <a:r>
              <a:rPr lang="de-DE" dirty="0">
                <a:solidFill>
                  <a:srgbClr val="0070C0"/>
                </a:solidFill>
              </a:rPr>
              <a:t>THEN UPDATE </a:t>
            </a:r>
            <a:r>
              <a:rPr lang="de-DE" dirty="0"/>
              <a:t>medium </a:t>
            </a:r>
          </a:p>
          <a:p>
            <a:r>
              <a:rPr lang="de-DE" dirty="0">
                <a:solidFill>
                  <a:srgbClr val="0070C0"/>
                </a:solidFill>
              </a:rPr>
              <a:t>SET</a:t>
            </a:r>
            <a:r>
              <a:rPr lang="de-DE" dirty="0"/>
              <a:t> </a:t>
            </a:r>
            <a:r>
              <a:rPr lang="de-DE" dirty="0" err="1"/>
              <a:t>Verfuegbarkeit</a:t>
            </a:r>
            <a:r>
              <a:rPr lang="de-DE" dirty="0"/>
              <a:t> = 0 </a:t>
            </a:r>
            <a:r>
              <a:rPr lang="de-DE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</a:t>
            </a:r>
            <a:r>
              <a:rPr lang="de-DE" dirty="0" err="1"/>
              <a:t>NEW.MediumID</a:t>
            </a:r>
            <a:r>
              <a:rPr lang="de-DE" dirty="0"/>
              <a:t>; </a:t>
            </a:r>
          </a:p>
          <a:p>
            <a:r>
              <a:rPr lang="de-DE" dirty="0">
                <a:solidFill>
                  <a:srgbClr val="0070C0"/>
                </a:solidFill>
              </a:rPr>
              <a:t>END IF$$</a:t>
            </a:r>
          </a:p>
          <a:p>
            <a:endParaRPr lang="de-DE" dirty="0"/>
          </a:p>
          <a:p>
            <a:r>
              <a:rPr lang="de-DE" dirty="0">
                <a:solidFill>
                  <a:srgbClr val="0070C0"/>
                </a:solidFill>
              </a:rPr>
              <a:t>CREATE TRIGGER </a:t>
            </a:r>
            <a:r>
              <a:rPr lang="de-DE" dirty="0" err="1"/>
              <a:t>trg_ausleihe_update</a:t>
            </a:r>
            <a:r>
              <a:rPr lang="de-DE" dirty="0"/>
              <a:t> </a:t>
            </a:r>
          </a:p>
          <a:p>
            <a:r>
              <a:rPr lang="de-DE" dirty="0">
                <a:solidFill>
                  <a:srgbClr val="0070C0"/>
                </a:solidFill>
              </a:rPr>
              <a:t>AFTER UPDATE ON </a:t>
            </a:r>
            <a:r>
              <a:rPr lang="de-DE" dirty="0"/>
              <a:t>ausleihe </a:t>
            </a:r>
            <a:r>
              <a:rPr lang="de-DE" dirty="0">
                <a:solidFill>
                  <a:srgbClr val="0070C0"/>
                </a:solidFill>
              </a:rPr>
              <a:t>FOR EACH ROW </a:t>
            </a:r>
          </a:p>
          <a:p>
            <a:r>
              <a:rPr lang="de-DE" dirty="0">
                <a:solidFill>
                  <a:srgbClr val="0070C0"/>
                </a:solidFill>
              </a:rPr>
              <a:t>IF</a:t>
            </a:r>
            <a:r>
              <a:rPr lang="de-DE" dirty="0"/>
              <a:t> </a:t>
            </a:r>
            <a:r>
              <a:rPr lang="de-DE" dirty="0" err="1"/>
              <a:t>NEW.Status</a:t>
            </a:r>
            <a:r>
              <a:rPr lang="de-DE" dirty="0"/>
              <a:t> = 1 AND </a:t>
            </a:r>
            <a:r>
              <a:rPr lang="de-DE" dirty="0" err="1"/>
              <a:t>OLD.Status</a:t>
            </a:r>
            <a:r>
              <a:rPr lang="de-DE" dirty="0"/>
              <a:t> = 0 THEN </a:t>
            </a:r>
            <a:r>
              <a:rPr lang="de-DE" dirty="0">
                <a:solidFill>
                  <a:srgbClr val="0070C0"/>
                </a:solidFill>
              </a:rPr>
              <a:t>UPDATE</a:t>
            </a:r>
            <a:r>
              <a:rPr lang="de-DE" dirty="0"/>
              <a:t> medium </a:t>
            </a:r>
          </a:p>
          <a:p>
            <a:r>
              <a:rPr lang="de-DE" dirty="0">
                <a:solidFill>
                  <a:srgbClr val="0070C0"/>
                </a:solidFill>
              </a:rPr>
              <a:t>SET</a:t>
            </a:r>
            <a:r>
              <a:rPr lang="de-DE" dirty="0"/>
              <a:t> </a:t>
            </a:r>
            <a:r>
              <a:rPr lang="de-DE" dirty="0" err="1"/>
              <a:t>Verfuegbarkeit</a:t>
            </a:r>
            <a:r>
              <a:rPr lang="de-DE" dirty="0"/>
              <a:t> = 1 </a:t>
            </a:r>
            <a:r>
              <a:rPr lang="de-DE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</a:t>
            </a:r>
            <a:r>
              <a:rPr lang="de-DE" dirty="0" err="1"/>
              <a:t>NEW.MediumID</a:t>
            </a:r>
            <a:r>
              <a:rPr lang="de-DE" dirty="0"/>
              <a:t>; </a:t>
            </a:r>
          </a:p>
          <a:p>
            <a:r>
              <a:rPr lang="de-DE" dirty="0">
                <a:solidFill>
                  <a:srgbClr val="0070C0"/>
                </a:solidFill>
              </a:rPr>
              <a:t>END IF$$</a:t>
            </a:r>
          </a:p>
        </p:txBody>
      </p:sp>
    </p:spTree>
    <p:extLst>
      <p:ext uri="{BB962C8B-B14F-4D97-AF65-F5344CB8AC3E}">
        <p14:creationId xmlns:p14="http://schemas.microsoft.com/office/powerpoint/2010/main" val="602306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D529-29E5-862C-7627-9E44544F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3092EF-C915-4F77-85A0-B870ADCB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Trigger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B5353B-5FDA-B518-907E-15E707ED0860}"/>
              </a:ext>
            </a:extLst>
          </p:cNvPr>
          <p:cNvSpPr txBox="1"/>
          <p:nvPr/>
        </p:nvSpPr>
        <p:spPr>
          <a:xfrm>
            <a:off x="931024" y="2050473"/>
            <a:ext cx="81021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CREATE TRIGGER </a:t>
            </a:r>
            <a:r>
              <a:rPr lang="de-DE" dirty="0" err="1"/>
              <a:t>trg_mahnung_sperre</a:t>
            </a:r>
            <a:endParaRPr lang="de-DE" dirty="0"/>
          </a:p>
          <a:p>
            <a:r>
              <a:rPr lang="de-DE" dirty="0">
                <a:solidFill>
                  <a:srgbClr val="0070C0"/>
                </a:solidFill>
              </a:rPr>
              <a:t>AFTER INSERT ON </a:t>
            </a:r>
            <a:r>
              <a:rPr lang="de-DE" dirty="0" err="1"/>
              <a:t>mahnung</a:t>
            </a:r>
            <a:r>
              <a:rPr lang="de-DE" dirty="0"/>
              <a:t> </a:t>
            </a:r>
            <a:r>
              <a:rPr lang="de-DE" dirty="0">
                <a:solidFill>
                  <a:srgbClr val="0070C0"/>
                </a:solidFill>
              </a:rPr>
              <a:t>FOR EACH ROW    </a:t>
            </a:r>
          </a:p>
          <a:p>
            <a:r>
              <a:rPr lang="de-DE" dirty="0">
                <a:solidFill>
                  <a:srgbClr val="0070C0"/>
                </a:solidFill>
              </a:rPr>
              <a:t>IF</a:t>
            </a:r>
            <a:r>
              <a:rPr lang="de-DE" dirty="0"/>
              <a:t> </a:t>
            </a:r>
            <a:r>
              <a:rPr lang="de-DE" dirty="0" err="1"/>
              <a:t>NEW.Mahnstufe</a:t>
            </a:r>
            <a:r>
              <a:rPr lang="de-DE" dirty="0"/>
              <a:t> = 3 </a:t>
            </a:r>
            <a:r>
              <a:rPr lang="de-DE" dirty="0">
                <a:solidFill>
                  <a:srgbClr val="0070C0"/>
                </a:solidFill>
              </a:rPr>
              <a:t>THEN</a:t>
            </a:r>
            <a:r>
              <a:rPr lang="de-DE" dirty="0"/>
              <a:t>        </a:t>
            </a:r>
          </a:p>
          <a:p>
            <a:r>
              <a:rPr lang="de-DE" dirty="0">
                <a:solidFill>
                  <a:srgbClr val="0070C0"/>
                </a:solidFill>
              </a:rPr>
              <a:t>UPDATE</a:t>
            </a:r>
            <a:r>
              <a:rPr lang="de-DE" dirty="0"/>
              <a:t> </a:t>
            </a:r>
            <a:r>
              <a:rPr lang="de-DE" dirty="0" err="1"/>
              <a:t>mitglied</a:t>
            </a:r>
            <a:r>
              <a:rPr lang="de-DE" dirty="0"/>
              <a:t> SET Ausleiherlaubnis = 1        </a:t>
            </a:r>
          </a:p>
          <a:p>
            <a:r>
              <a:rPr lang="de-DE" dirty="0">
                <a:solidFill>
                  <a:srgbClr val="0070C0"/>
                </a:solidFill>
              </a:rPr>
              <a:t>WHERE </a:t>
            </a:r>
            <a:r>
              <a:rPr lang="de-DE" dirty="0" err="1"/>
              <a:t>PersonenID</a:t>
            </a:r>
            <a:r>
              <a:rPr lang="de-DE" dirty="0"/>
              <a:t> = </a:t>
            </a:r>
            <a:r>
              <a:rPr lang="de-DE" dirty="0" err="1"/>
              <a:t>NEW.MitgliedID</a:t>
            </a:r>
            <a:r>
              <a:rPr lang="de-DE" dirty="0"/>
              <a:t>;    </a:t>
            </a:r>
          </a:p>
          <a:p>
            <a:r>
              <a:rPr lang="de-DE" dirty="0">
                <a:solidFill>
                  <a:srgbClr val="0070C0"/>
                </a:solidFill>
              </a:rPr>
              <a:t>END IF$$</a:t>
            </a:r>
          </a:p>
        </p:txBody>
      </p:sp>
    </p:spTree>
    <p:extLst>
      <p:ext uri="{BB962C8B-B14F-4D97-AF65-F5344CB8AC3E}">
        <p14:creationId xmlns:p14="http://schemas.microsoft.com/office/powerpoint/2010/main" val="977944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534D-C210-3207-5B71-AD475727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A5964-3AA6-2FA3-1965-C6FD5888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Trigger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9DD2887E-4F09-EAD2-63BA-E7119A1DED4E}"/>
              </a:ext>
            </a:extLst>
          </p:cNvPr>
          <p:cNvGrpSpPr/>
          <p:nvPr/>
        </p:nvGrpSpPr>
        <p:grpSpPr>
          <a:xfrm>
            <a:off x="8600645" y="2213857"/>
            <a:ext cx="3319260" cy="3319260"/>
            <a:chOff x="645908" y="2156347"/>
            <a:chExt cx="3319260" cy="3319260"/>
          </a:xfrm>
        </p:grpSpPr>
        <p:pic>
          <p:nvPicPr>
            <p:cNvPr id="5" name="Grafik 4" descr="Frau Silhouette">
              <a:extLst>
                <a:ext uri="{FF2B5EF4-FFF2-40B4-BE49-F238E27FC236}">
                  <a16:creationId xmlns:a16="http://schemas.microsoft.com/office/drawing/2014/main" id="{97FA342B-8DB0-6FE2-01CD-99DB02AC032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5908" y="2156347"/>
              <a:ext cx="3319260" cy="3319260"/>
            </a:xfrm>
            <a:prstGeom prst="rect">
              <a:avLst/>
            </a:prstGeom>
          </p:spPr>
        </p:pic>
        <p:pic>
          <p:nvPicPr>
            <p:cNvPr id="7" name="Grafik 6" descr="Geschlossenes Buch Silhouette">
              <a:extLst>
                <a:ext uri="{FF2B5EF4-FFF2-40B4-BE49-F238E27FC236}">
                  <a16:creationId xmlns:a16="http://schemas.microsoft.com/office/drawing/2014/main" id="{F6F9DF15-C138-A391-2B77-9CCE22A4B3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41009" y="3473355"/>
              <a:ext cx="914400" cy="914400"/>
            </a:xfrm>
            <a:prstGeom prst="rect">
              <a:avLst/>
            </a:prstGeom>
          </p:spPr>
        </p:pic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6F1051A8-0DC8-F159-3372-04C077D9296C}"/>
              </a:ext>
            </a:extLst>
          </p:cNvPr>
          <p:cNvSpPr txBox="1"/>
          <p:nvPr/>
        </p:nvSpPr>
        <p:spPr>
          <a:xfrm>
            <a:off x="508476" y="1472830"/>
            <a:ext cx="97517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-&gt;Ausgangszustand</a:t>
            </a:r>
          </a:p>
          <a:p>
            <a:r>
              <a:rPr lang="de-DE" b="1" dirty="0">
                <a:solidFill>
                  <a:srgbClr val="0070C0"/>
                </a:solidFill>
              </a:rPr>
              <a:t>SELECT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, Titel, </a:t>
            </a:r>
            <a:r>
              <a:rPr lang="de-DE" dirty="0" err="1"/>
              <a:t>Verfuegbarkeit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FROM</a:t>
            </a:r>
            <a:r>
              <a:rPr lang="de-DE" dirty="0"/>
              <a:t> medium </a:t>
            </a:r>
            <a:r>
              <a:rPr lang="de-DE" b="1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10;</a:t>
            </a:r>
          </a:p>
          <a:p>
            <a:r>
              <a:rPr lang="de-DE" b="1" dirty="0">
                <a:solidFill>
                  <a:srgbClr val="0070C0"/>
                </a:solidFill>
              </a:rPr>
              <a:t>SELECT</a:t>
            </a:r>
            <a:r>
              <a:rPr lang="de-DE" dirty="0"/>
              <a:t> </a:t>
            </a:r>
            <a:r>
              <a:rPr lang="de-DE" dirty="0" err="1"/>
              <a:t>AusleiheID</a:t>
            </a:r>
            <a:r>
              <a:rPr lang="de-DE" dirty="0"/>
              <a:t>, </a:t>
            </a:r>
            <a:r>
              <a:rPr lang="de-DE" dirty="0" err="1"/>
              <a:t>Ausleihedatum</a:t>
            </a:r>
            <a:r>
              <a:rPr lang="de-DE" dirty="0"/>
              <a:t>, </a:t>
            </a:r>
            <a:r>
              <a:rPr lang="de-DE" dirty="0" err="1"/>
              <a:t>Rueckgabedatum</a:t>
            </a:r>
            <a:r>
              <a:rPr lang="de-DE" dirty="0"/>
              <a:t>, </a:t>
            </a:r>
            <a:r>
              <a:rPr lang="de-DE" dirty="0" err="1"/>
              <a:t>status</a:t>
            </a:r>
            <a:r>
              <a:rPr lang="de-DE" dirty="0"/>
              <a:t>, </a:t>
            </a:r>
            <a:r>
              <a:rPr lang="de-DE" dirty="0" err="1"/>
              <a:t>MitgliedID</a:t>
            </a:r>
            <a:r>
              <a:rPr lang="de-DE" dirty="0"/>
              <a:t>, </a:t>
            </a:r>
            <a:r>
              <a:rPr lang="de-DE" dirty="0" err="1"/>
              <a:t>MediumID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FROM</a:t>
            </a:r>
            <a:r>
              <a:rPr lang="de-DE" dirty="0"/>
              <a:t> ausleihe </a:t>
            </a:r>
            <a:r>
              <a:rPr lang="de-DE" b="1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10;</a:t>
            </a:r>
          </a:p>
          <a:p>
            <a:endParaRPr lang="de-DE" dirty="0"/>
          </a:p>
          <a:p>
            <a:r>
              <a:rPr lang="de-DE" dirty="0"/>
              <a:t>-&gt;Insert</a:t>
            </a:r>
          </a:p>
          <a:p>
            <a:r>
              <a:rPr lang="de-DE" b="1" dirty="0">
                <a:solidFill>
                  <a:srgbClr val="0070C0"/>
                </a:solidFill>
              </a:rPr>
              <a:t>INSERT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INTO</a:t>
            </a:r>
            <a:r>
              <a:rPr lang="de-DE" dirty="0"/>
              <a:t> ausleihe (</a:t>
            </a:r>
            <a:r>
              <a:rPr lang="de-DE" dirty="0" err="1"/>
              <a:t>AusleiheID</a:t>
            </a:r>
            <a:r>
              <a:rPr lang="de-DE" dirty="0"/>
              <a:t>, </a:t>
            </a:r>
            <a:r>
              <a:rPr lang="de-DE" dirty="0" err="1"/>
              <a:t>Ausleihedatum</a:t>
            </a:r>
            <a:r>
              <a:rPr lang="de-DE" dirty="0"/>
              <a:t>, </a:t>
            </a:r>
            <a:r>
              <a:rPr lang="de-DE" dirty="0" err="1"/>
              <a:t>Rueckgabedatum</a:t>
            </a:r>
            <a:r>
              <a:rPr lang="de-DE" dirty="0"/>
              <a:t>, Status, </a:t>
            </a:r>
            <a:r>
              <a:rPr lang="de-DE" dirty="0" err="1"/>
              <a:t>MitgliedID</a:t>
            </a:r>
            <a:r>
              <a:rPr lang="de-DE" dirty="0"/>
              <a:t>, </a:t>
            </a:r>
            <a:r>
              <a:rPr lang="de-DE" dirty="0" err="1"/>
              <a:t>MediumID</a:t>
            </a:r>
            <a:r>
              <a:rPr lang="de-DE" dirty="0"/>
              <a:t>) </a:t>
            </a:r>
            <a:r>
              <a:rPr lang="de-DE" b="1" dirty="0">
                <a:solidFill>
                  <a:srgbClr val="0070C0"/>
                </a:solidFill>
              </a:rPr>
              <a:t>VALUES</a:t>
            </a:r>
            <a:r>
              <a:rPr lang="de-DE" dirty="0"/>
              <a:t> (101, '2026-06-14', NULL, 0, 1, 10);</a:t>
            </a:r>
          </a:p>
          <a:p>
            <a:r>
              <a:rPr lang="de-DE" b="1" dirty="0">
                <a:solidFill>
                  <a:srgbClr val="0070C0"/>
                </a:solidFill>
              </a:rPr>
              <a:t>SELECT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, Titel, </a:t>
            </a:r>
            <a:r>
              <a:rPr lang="de-DE" dirty="0" err="1"/>
              <a:t>Verfuegbarkeit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FROM</a:t>
            </a:r>
            <a:r>
              <a:rPr lang="de-DE" dirty="0"/>
              <a:t> medium </a:t>
            </a:r>
            <a:r>
              <a:rPr lang="de-DE" b="1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10;</a:t>
            </a:r>
          </a:p>
          <a:p>
            <a:r>
              <a:rPr lang="de-DE" b="1" dirty="0">
                <a:solidFill>
                  <a:srgbClr val="0070C0"/>
                </a:solidFill>
              </a:rPr>
              <a:t>SELECT</a:t>
            </a:r>
            <a:r>
              <a:rPr lang="de-DE" dirty="0"/>
              <a:t> </a:t>
            </a:r>
            <a:r>
              <a:rPr lang="de-DE" dirty="0" err="1"/>
              <a:t>AusleiheID</a:t>
            </a:r>
            <a:r>
              <a:rPr lang="de-DE" dirty="0"/>
              <a:t>, </a:t>
            </a:r>
            <a:r>
              <a:rPr lang="de-DE" dirty="0" err="1"/>
              <a:t>Ausleihedatum</a:t>
            </a:r>
            <a:r>
              <a:rPr lang="de-DE" dirty="0"/>
              <a:t>, </a:t>
            </a:r>
            <a:r>
              <a:rPr lang="de-DE" dirty="0" err="1"/>
              <a:t>Rueckgabedatum</a:t>
            </a:r>
            <a:r>
              <a:rPr lang="de-DE" dirty="0"/>
              <a:t>, </a:t>
            </a:r>
            <a:r>
              <a:rPr lang="de-DE" dirty="0" err="1"/>
              <a:t>status</a:t>
            </a:r>
            <a:r>
              <a:rPr lang="de-DE" dirty="0"/>
              <a:t>, </a:t>
            </a:r>
            <a:r>
              <a:rPr lang="de-DE" dirty="0" err="1"/>
              <a:t>MitgliedID</a:t>
            </a:r>
            <a:r>
              <a:rPr lang="de-DE" dirty="0"/>
              <a:t>, </a:t>
            </a:r>
            <a:r>
              <a:rPr lang="de-DE" dirty="0" err="1"/>
              <a:t>MediumID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FROM</a:t>
            </a:r>
            <a:r>
              <a:rPr lang="de-DE" dirty="0"/>
              <a:t> ausleihe </a:t>
            </a:r>
            <a:r>
              <a:rPr lang="de-DE" b="1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10;</a:t>
            </a:r>
          </a:p>
          <a:p>
            <a:endParaRPr lang="de-DE" dirty="0"/>
          </a:p>
          <a:p>
            <a:r>
              <a:rPr lang="de-DE" dirty="0"/>
              <a:t>-&gt;Update</a:t>
            </a:r>
          </a:p>
          <a:p>
            <a:r>
              <a:rPr lang="de-DE" b="1" dirty="0">
                <a:solidFill>
                  <a:srgbClr val="0070C0"/>
                </a:solidFill>
              </a:rPr>
              <a:t>UPDATE</a:t>
            </a:r>
            <a:r>
              <a:rPr lang="de-DE" dirty="0"/>
              <a:t> ausleihe </a:t>
            </a:r>
            <a:r>
              <a:rPr lang="de-DE" b="1" dirty="0">
                <a:solidFill>
                  <a:srgbClr val="0070C0"/>
                </a:solidFill>
              </a:rPr>
              <a:t>SET</a:t>
            </a:r>
            <a:r>
              <a:rPr lang="de-DE" dirty="0"/>
              <a:t> Status = 1, </a:t>
            </a:r>
            <a:r>
              <a:rPr lang="de-DE" dirty="0" err="1"/>
              <a:t>Rueckgabedatum</a:t>
            </a:r>
            <a:r>
              <a:rPr lang="de-DE" dirty="0"/>
              <a:t> = '2026-06-20' </a:t>
            </a:r>
            <a:r>
              <a:rPr lang="de-DE" b="1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AusleiheID</a:t>
            </a:r>
            <a:r>
              <a:rPr lang="de-DE" dirty="0"/>
              <a:t> = 101;</a:t>
            </a:r>
          </a:p>
          <a:p>
            <a:r>
              <a:rPr lang="de-DE" b="1" dirty="0">
                <a:solidFill>
                  <a:srgbClr val="0070C0"/>
                </a:solidFill>
              </a:rPr>
              <a:t>SELECT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, Titel, </a:t>
            </a:r>
            <a:r>
              <a:rPr lang="de-DE" dirty="0" err="1"/>
              <a:t>Verfuegbarkeit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FROM</a:t>
            </a:r>
            <a:r>
              <a:rPr lang="de-DE" dirty="0"/>
              <a:t> medium </a:t>
            </a:r>
            <a:r>
              <a:rPr lang="de-DE" b="1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10;</a:t>
            </a:r>
          </a:p>
          <a:p>
            <a:r>
              <a:rPr lang="de-DE" b="1" dirty="0">
                <a:solidFill>
                  <a:srgbClr val="0070C0"/>
                </a:solidFill>
              </a:rPr>
              <a:t>SELECT</a:t>
            </a:r>
            <a:r>
              <a:rPr lang="de-DE" dirty="0"/>
              <a:t> </a:t>
            </a:r>
            <a:r>
              <a:rPr lang="de-DE" dirty="0" err="1"/>
              <a:t>AusleiheID</a:t>
            </a:r>
            <a:r>
              <a:rPr lang="de-DE" dirty="0"/>
              <a:t>, </a:t>
            </a:r>
            <a:r>
              <a:rPr lang="de-DE" dirty="0" err="1"/>
              <a:t>Ausleihedatum</a:t>
            </a:r>
            <a:r>
              <a:rPr lang="de-DE" dirty="0"/>
              <a:t>, </a:t>
            </a:r>
            <a:r>
              <a:rPr lang="de-DE" dirty="0" err="1"/>
              <a:t>Rueckgabedatum</a:t>
            </a:r>
            <a:r>
              <a:rPr lang="de-DE" dirty="0"/>
              <a:t>, </a:t>
            </a:r>
            <a:r>
              <a:rPr lang="de-DE" dirty="0" err="1"/>
              <a:t>status</a:t>
            </a:r>
            <a:r>
              <a:rPr lang="de-DE" dirty="0"/>
              <a:t>, </a:t>
            </a:r>
            <a:r>
              <a:rPr lang="de-DE" dirty="0" err="1"/>
              <a:t>MitgliedID</a:t>
            </a:r>
            <a:r>
              <a:rPr lang="de-DE" dirty="0"/>
              <a:t>, </a:t>
            </a:r>
            <a:r>
              <a:rPr lang="de-DE" dirty="0" err="1"/>
              <a:t>MediumID</a:t>
            </a:r>
            <a:r>
              <a:rPr lang="de-DE" dirty="0"/>
              <a:t> </a:t>
            </a:r>
            <a:r>
              <a:rPr lang="de-DE" b="1" dirty="0">
                <a:solidFill>
                  <a:srgbClr val="0070C0"/>
                </a:solidFill>
              </a:rPr>
              <a:t>FROM</a:t>
            </a:r>
            <a:r>
              <a:rPr lang="de-DE" dirty="0"/>
              <a:t> ausleihe </a:t>
            </a:r>
            <a:r>
              <a:rPr lang="de-DE" b="1" dirty="0">
                <a:solidFill>
                  <a:srgbClr val="0070C0"/>
                </a:solidFill>
              </a:rPr>
              <a:t>WHERE</a:t>
            </a:r>
            <a:r>
              <a:rPr lang="de-DE" dirty="0"/>
              <a:t> </a:t>
            </a:r>
            <a:r>
              <a:rPr lang="de-DE" dirty="0" err="1"/>
              <a:t>MediumID</a:t>
            </a:r>
            <a:r>
              <a:rPr lang="de-DE" dirty="0"/>
              <a:t> = 10;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9C51F07-4527-E760-1459-B7D7D1B3979C}"/>
              </a:ext>
            </a:extLst>
          </p:cNvPr>
          <p:cNvSpPr txBox="1"/>
          <p:nvPr/>
        </p:nvSpPr>
        <p:spPr>
          <a:xfrm>
            <a:off x="9860711" y="1897722"/>
            <a:ext cx="1115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ANNA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32DDB52-EB7C-AA42-BE6A-0E3919CC1DF5}"/>
              </a:ext>
            </a:extLst>
          </p:cNvPr>
          <p:cNvSpPr txBox="1"/>
          <p:nvPr/>
        </p:nvSpPr>
        <p:spPr>
          <a:xfrm>
            <a:off x="10901631" y="3161533"/>
            <a:ext cx="1290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Analysis 1</a:t>
            </a:r>
          </a:p>
        </p:txBody>
      </p:sp>
    </p:spTree>
    <p:extLst>
      <p:ext uri="{BB962C8B-B14F-4D97-AF65-F5344CB8AC3E}">
        <p14:creationId xmlns:p14="http://schemas.microsoft.com/office/powerpoint/2010/main" val="4138643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9CA6-964C-0A1D-85C9-E295C4DB8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B994A6-A646-821B-C28C-9C9385BE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Views</a:t>
            </a:r>
          </a:p>
        </p:txBody>
      </p:sp>
      <p:pic>
        <p:nvPicPr>
          <p:cNvPr id="5" name="Grafik 4" descr="Gruppe von Personen mit einfarbiger Füllung">
            <a:extLst>
              <a:ext uri="{FF2B5EF4-FFF2-40B4-BE49-F238E27FC236}">
                <a16:creationId xmlns:a16="http://schemas.microsoft.com/office/drawing/2014/main" id="{FF072489-227C-2F79-80E9-64AF30AE0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9756" y="2729677"/>
            <a:ext cx="2801078" cy="2801078"/>
          </a:xfrm>
          <a:prstGeom prst="rect">
            <a:avLst/>
          </a:prstGeom>
        </p:spPr>
      </p:pic>
      <p:pic>
        <p:nvPicPr>
          <p:cNvPr id="7" name="Grafik 6" descr="Kinder mit einfarbiger Füllung">
            <a:extLst>
              <a:ext uri="{FF2B5EF4-FFF2-40B4-BE49-F238E27FC236}">
                <a16:creationId xmlns:a16="http://schemas.microsoft.com/office/drawing/2014/main" id="{EE3436D3-C44E-20DC-12F9-C99DE011F7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3009" y="3311470"/>
            <a:ext cx="2801078" cy="280107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25B85F7-0DF9-B6BB-958E-E72EED1FD442}"/>
              </a:ext>
            </a:extLst>
          </p:cNvPr>
          <p:cNvSpPr txBox="1"/>
          <p:nvPr/>
        </p:nvSpPr>
        <p:spPr>
          <a:xfrm>
            <a:off x="2170119" y="5530755"/>
            <a:ext cx="269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Mitglieder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E59AB-3855-91B1-6726-7C65C80EEC86}"/>
              </a:ext>
            </a:extLst>
          </p:cNvPr>
          <p:cNvSpPr txBox="1"/>
          <p:nvPr/>
        </p:nvSpPr>
        <p:spPr>
          <a:xfrm>
            <a:off x="8286465" y="5441751"/>
            <a:ext cx="269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Mitarbeiter</a:t>
            </a:r>
          </a:p>
        </p:txBody>
      </p:sp>
    </p:spTree>
    <p:extLst>
      <p:ext uri="{BB962C8B-B14F-4D97-AF65-F5344CB8AC3E}">
        <p14:creationId xmlns:p14="http://schemas.microsoft.com/office/powerpoint/2010/main" val="3209845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CF056-7E44-A81B-DB8D-38E473FE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E0881-0D33-C204-06BA-28E24AB9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Views</a:t>
            </a:r>
          </a:p>
        </p:txBody>
      </p:sp>
      <p:pic>
        <p:nvPicPr>
          <p:cNvPr id="5" name="Grafik 4" descr="Gruppe von Personen mit einfarbiger Füllung">
            <a:extLst>
              <a:ext uri="{FF2B5EF4-FFF2-40B4-BE49-F238E27FC236}">
                <a16:creationId xmlns:a16="http://schemas.microsoft.com/office/drawing/2014/main" id="{76BAD4D3-A9A2-9EA4-F5AA-2DE623C503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9756" y="2729677"/>
            <a:ext cx="2801078" cy="280107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FED49D0-36B0-B634-4364-03FEF6783150}"/>
              </a:ext>
            </a:extLst>
          </p:cNvPr>
          <p:cNvSpPr txBox="1"/>
          <p:nvPr/>
        </p:nvSpPr>
        <p:spPr>
          <a:xfrm>
            <a:off x="2170119" y="5530755"/>
            <a:ext cx="2694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Mitglieder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18BE1D-D6E9-F9D8-8E9C-1256E52E1B81}"/>
              </a:ext>
            </a:extLst>
          </p:cNvPr>
          <p:cNvSpPr txBox="1"/>
          <p:nvPr/>
        </p:nvSpPr>
        <p:spPr>
          <a:xfrm>
            <a:off x="4864290" y="2114435"/>
            <a:ext cx="70783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CREATE VIEW</a:t>
            </a:r>
            <a:r>
              <a:rPr lang="de-DE" dirty="0"/>
              <a:t> </a:t>
            </a:r>
            <a:r>
              <a:rPr lang="de-DE" dirty="0" err="1"/>
              <a:t>v_regalfaecher</a:t>
            </a:r>
            <a:r>
              <a:rPr lang="de-DE" dirty="0"/>
              <a:t> </a:t>
            </a:r>
            <a:r>
              <a:rPr lang="de-DE" dirty="0">
                <a:solidFill>
                  <a:srgbClr val="0070C0"/>
                </a:solidFill>
              </a:rPr>
              <a:t>AS</a:t>
            </a:r>
          </a:p>
          <a:p>
            <a:r>
              <a:rPr lang="de-DE" dirty="0">
                <a:solidFill>
                  <a:srgbClr val="0070C0"/>
                </a:solidFill>
              </a:rPr>
              <a:t>SELECT</a:t>
            </a:r>
          </a:p>
          <a:p>
            <a:r>
              <a:rPr lang="de-DE" dirty="0"/>
              <a:t>    </a:t>
            </a:r>
            <a:r>
              <a:rPr lang="de-DE" dirty="0" err="1"/>
              <a:t>r.Regalnummer</a:t>
            </a:r>
            <a:r>
              <a:rPr lang="de-DE" dirty="0"/>
              <a:t>,</a:t>
            </a:r>
          </a:p>
          <a:p>
            <a:r>
              <a:rPr lang="de-DE" dirty="0"/>
              <a:t>    </a:t>
            </a:r>
            <a:r>
              <a:rPr lang="de-DE" dirty="0" err="1"/>
              <a:t>r.Fachnummer</a:t>
            </a:r>
            <a:r>
              <a:rPr lang="de-DE" dirty="0"/>
              <a:t>,</a:t>
            </a:r>
          </a:p>
          <a:p>
            <a:r>
              <a:rPr lang="de-DE" dirty="0"/>
              <a:t>    </a:t>
            </a:r>
            <a:r>
              <a:rPr lang="de-DE" dirty="0" err="1"/>
              <a:t>m.Titel</a:t>
            </a:r>
            <a:r>
              <a:rPr lang="de-DE" dirty="0"/>
              <a:t>,</a:t>
            </a:r>
          </a:p>
          <a:p>
            <a:r>
              <a:rPr lang="de-DE" dirty="0"/>
              <a:t>    </a:t>
            </a:r>
            <a:r>
              <a:rPr lang="de-DE" dirty="0">
                <a:solidFill>
                  <a:srgbClr val="0070C0"/>
                </a:solidFill>
              </a:rPr>
              <a:t>CASE</a:t>
            </a:r>
          </a:p>
          <a:p>
            <a:r>
              <a:rPr lang="de-DE" dirty="0"/>
              <a:t>        </a:t>
            </a:r>
            <a:r>
              <a:rPr lang="de-DE" dirty="0">
                <a:solidFill>
                  <a:srgbClr val="0070C0"/>
                </a:solidFill>
              </a:rPr>
              <a:t>WHEN</a:t>
            </a:r>
            <a:r>
              <a:rPr lang="de-DE" dirty="0"/>
              <a:t> </a:t>
            </a:r>
            <a:r>
              <a:rPr lang="de-DE" dirty="0" err="1"/>
              <a:t>m.Verfuegbarkeit</a:t>
            </a:r>
            <a:r>
              <a:rPr lang="de-DE" dirty="0"/>
              <a:t> = 1 </a:t>
            </a:r>
            <a:r>
              <a:rPr lang="de-DE" dirty="0">
                <a:solidFill>
                  <a:srgbClr val="0070C0"/>
                </a:solidFill>
              </a:rPr>
              <a:t>THEN</a:t>
            </a:r>
            <a:r>
              <a:rPr lang="de-DE" dirty="0"/>
              <a:t> 'Verfügbar'</a:t>
            </a:r>
          </a:p>
          <a:p>
            <a:r>
              <a:rPr lang="de-DE" dirty="0"/>
              <a:t>        </a:t>
            </a:r>
            <a:r>
              <a:rPr lang="de-DE" dirty="0">
                <a:solidFill>
                  <a:srgbClr val="0070C0"/>
                </a:solidFill>
              </a:rPr>
              <a:t>ELSE</a:t>
            </a:r>
            <a:r>
              <a:rPr lang="de-DE" dirty="0"/>
              <a:t> 'Nicht verfügbar'</a:t>
            </a:r>
          </a:p>
          <a:p>
            <a:r>
              <a:rPr lang="de-DE" dirty="0"/>
              <a:t>    </a:t>
            </a:r>
            <a:r>
              <a:rPr lang="de-DE" dirty="0">
                <a:solidFill>
                  <a:srgbClr val="0070C0"/>
                </a:solidFill>
              </a:rPr>
              <a:t>END AS</a:t>
            </a:r>
            <a:r>
              <a:rPr lang="de-DE" dirty="0"/>
              <a:t> </a:t>
            </a:r>
            <a:r>
              <a:rPr lang="de-DE" dirty="0" err="1"/>
              <a:t>Verfuegbarkeit</a:t>
            </a:r>
            <a:endParaRPr lang="de-DE" dirty="0"/>
          </a:p>
          <a:p>
            <a:r>
              <a:rPr lang="de-DE" dirty="0">
                <a:solidFill>
                  <a:srgbClr val="0070C0"/>
                </a:solidFill>
              </a:rPr>
              <a:t>FROM</a:t>
            </a:r>
            <a:r>
              <a:rPr lang="de-DE" dirty="0"/>
              <a:t> regalfach r</a:t>
            </a:r>
          </a:p>
          <a:p>
            <a:r>
              <a:rPr lang="de-DE" dirty="0">
                <a:solidFill>
                  <a:srgbClr val="0070C0"/>
                </a:solidFill>
              </a:rPr>
              <a:t>LEFT JOIN</a:t>
            </a:r>
            <a:r>
              <a:rPr lang="de-DE" dirty="0"/>
              <a:t> </a:t>
            </a:r>
            <a:r>
              <a:rPr lang="de-DE" dirty="0" err="1"/>
              <a:t>analogesmedium</a:t>
            </a:r>
            <a:r>
              <a:rPr lang="de-DE" dirty="0"/>
              <a:t> am </a:t>
            </a:r>
            <a:r>
              <a:rPr lang="de-DE" dirty="0">
                <a:solidFill>
                  <a:srgbClr val="0070C0"/>
                </a:solidFill>
              </a:rPr>
              <a:t>ON</a:t>
            </a:r>
            <a:r>
              <a:rPr lang="de-DE" dirty="0"/>
              <a:t> </a:t>
            </a:r>
            <a:r>
              <a:rPr lang="de-DE" dirty="0" err="1"/>
              <a:t>am.RegalfachID</a:t>
            </a:r>
            <a:r>
              <a:rPr lang="de-DE" dirty="0"/>
              <a:t> = </a:t>
            </a:r>
            <a:r>
              <a:rPr lang="de-DE" dirty="0" err="1"/>
              <a:t>r.RegalfachID</a:t>
            </a:r>
            <a:endParaRPr lang="de-DE" dirty="0"/>
          </a:p>
          <a:p>
            <a:r>
              <a:rPr lang="de-DE" dirty="0">
                <a:solidFill>
                  <a:srgbClr val="0070C0"/>
                </a:solidFill>
              </a:rPr>
              <a:t>LEFT JOIN</a:t>
            </a:r>
            <a:r>
              <a:rPr lang="de-DE" dirty="0"/>
              <a:t> medium         m  </a:t>
            </a:r>
            <a:r>
              <a:rPr lang="de-DE" dirty="0">
                <a:solidFill>
                  <a:srgbClr val="0070C0"/>
                </a:solidFill>
              </a:rPr>
              <a:t>ON</a:t>
            </a:r>
            <a:r>
              <a:rPr lang="de-DE" dirty="0"/>
              <a:t> </a:t>
            </a:r>
            <a:r>
              <a:rPr lang="de-DE" dirty="0" err="1"/>
              <a:t>m.MediumID</a:t>
            </a:r>
            <a:r>
              <a:rPr lang="de-DE" dirty="0"/>
              <a:t>     = </a:t>
            </a:r>
            <a:r>
              <a:rPr lang="de-DE" dirty="0" err="1"/>
              <a:t>am.MediumID</a:t>
            </a:r>
            <a:r>
              <a:rPr lang="de-DE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9774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Breitbild</PresentationFormat>
  <Paragraphs>105</Paragraphs>
  <Slides>20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</vt:lpstr>
      <vt:lpstr>Hochschulbibliothek</vt:lpstr>
      <vt:lpstr>Übersicht</vt:lpstr>
      <vt:lpstr>Problemstellung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ER-Modell</vt:lpstr>
      <vt:lpstr>Logischer Datenbankenentwurf</vt:lpstr>
      <vt:lpstr>SQL-Datenbank</vt:lpstr>
      <vt:lpstr>SQL-Datenbank</vt:lpstr>
      <vt:lpstr>SQL-Datenbank</vt:lpstr>
      <vt:lpstr>Abfragen</vt:lpstr>
      <vt:lpstr>Trigger</vt:lpstr>
      <vt:lpstr>Trigger</vt:lpstr>
      <vt:lpstr>Trigger</vt:lpstr>
      <vt:lpstr>Views</vt:lpstr>
      <vt:lpstr>Views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Finja Rolke</dc:creator>
  <cp:lastModifiedBy>Finja Rolke</cp:lastModifiedBy>
  <cp:revision>10</cp:revision>
  <dcterms:created xsi:type="dcterms:W3CDTF">2026-06-10T10:10:10Z</dcterms:created>
  <dcterms:modified xsi:type="dcterms:W3CDTF">2026-06-16T20:11:45Z</dcterms:modified>
</cp:coreProperties>
</file>